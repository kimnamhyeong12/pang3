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5f5757b75a84195" /><Relationship Type="http://schemas.openxmlformats.org/officeDocument/2006/relationships/extended-properties" Target="/docProps/app.xml" Id="Re62d816000624396" /><Relationship Type="http://schemas.openxmlformats.org/officeDocument/2006/relationships/officeDocument" Target="/ppt/presentation.xml" Id="Rde90d6393ca54f9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c2e767e5e8045d5"/>
  </p:sldMasterIdLst>
  <p:notesMasterIdLst>
    <p:notesMasterId xmlns:r="http://schemas.openxmlformats.org/officeDocument/2006/relationships" r:id="Raf8c6dacd86e4ed5"/>
  </p:notesMasterIdLst>
  <p:sldIdLst>
    <p:sldId xmlns:r="http://schemas.openxmlformats.org/officeDocument/2006/relationships" id="256" r:id="R2d4b36cfbc38455b"/>
    <p:sldId xmlns:r="http://schemas.openxmlformats.org/officeDocument/2006/relationships" id="257" r:id="R5b38da79e9824f97"/>
    <p:sldId xmlns:r="http://schemas.openxmlformats.org/officeDocument/2006/relationships" id="258" r:id="Rd5a8e0d43acd4379"/>
    <p:sldId xmlns:r="http://schemas.openxmlformats.org/officeDocument/2006/relationships" id="259" r:id="R2a7f56e5992a4100"/>
    <p:sldId xmlns:r="http://schemas.openxmlformats.org/officeDocument/2006/relationships" id="260" r:id="R6d821ce1430247d5"/>
    <p:sldId xmlns:r="http://schemas.openxmlformats.org/officeDocument/2006/relationships" id="261" r:id="Ra680ca9db5f549b8"/>
    <p:sldId xmlns:r="http://schemas.openxmlformats.org/officeDocument/2006/relationships" id="262" r:id="R3623d9ead22c4bb6"/>
    <p:sldId xmlns:r="http://schemas.openxmlformats.org/officeDocument/2006/relationships" id="263" r:id="R7759c8b3ec31401d"/>
    <p:sldId xmlns:r="http://schemas.openxmlformats.org/officeDocument/2006/relationships" id="264" r:id="R991f8bb034734303"/>
    <p:sldId xmlns:r="http://schemas.openxmlformats.org/officeDocument/2006/relationships" id="265" r:id="Rd61a63f3194a4890"/>
    <p:sldId xmlns:r="http://schemas.openxmlformats.org/officeDocument/2006/relationships" id="266" r:id="R43f788220b9c477d"/>
    <p:sldId xmlns:r="http://schemas.openxmlformats.org/officeDocument/2006/relationships" id="267" r:id="R7701f658becb4549"/>
    <p:sldId xmlns:r="http://schemas.openxmlformats.org/officeDocument/2006/relationships" id="268" r:id="R9412f02173974585"/>
    <p:sldId xmlns:r="http://schemas.openxmlformats.org/officeDocument/2006/relationships" id="269" r:id="R2418c7e486a24615"/>
    <p:sldId xmlns:r="http://schemas.openxmlformats.org/officeDocument/2006/relationships" id="270" r:id="Rcd0cf4aa6ca7425d"/>
    <p:sldId xmlns:r="http://schemas.openxmlformats.org/officeDocument/2006/relationships" id="271" r:id="R3ccd7c72922e403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788eafdfc2542e2" /><Relationship Type="http://schemas.openxmlformats.org/officeDocument/2006/relationships/slideMaster" Target="/ppt/slideMasters/slideMaster1.xml" Id="Rdc2e767e5e8045d5" /><Relationship Type="http://schemas.openxmlformats.org/officeDocument/2006/relationships/notesMaster" Target="/ppt/notesMasters/notesMaster1.xml" Id="Raf8c6dacd86e4ed5" /><Relationship Type="http://schemas.openxmlformats.org/officeDocument/2006/relationships/presProps" Target="/ppt/presProps.xml" Id="Rdec1cdf6d88a4507" /><Relationship Type="http://schemas.openxmlformats.org/officeDocument/2006/relationships/tableStyles" Target="/ppt/tableStyles.xml" Id="R9233b35d88fa4d72" /><Relationship Type="http://schemas.openxmlformats.org/officeDocument/2006/relationships/slide" Target="/ppt/slides/slide1.xml" Id="R2d4b36cfbc38455b" /><Relationship Type="http://schemas.openxmlformats.org/officeDocument/2006/relationships/slide" Target="/ppt/slides/slide2.xml" Id="R5b38da79e9824f97" /><Relationship Type="http://schemas.openxmlformats.org/officeDocument/2006/relationships/slide" Target="/ppt/slides/slide3.xml" Id="Rd5a8e0d43acd4379" /><Relationship Type="http://schemas.openxmlformats.org/officeDocument/2006/relationships/slide" Target="/ppt/slides/slide4.xml" Id="R2a7f56e5992a4100" /><Relationship Type="http://schemas.openxmlformats.org/officeDocument/2006/relationships/slide" Target="/ppt/slides/slide5.xml" Id="R6d821ce1430247d5" /><Relationship Type="http://schemas.openxmlformats.org/officeDocument/2006/relationships/slide" Target="/ppt/slides/slide6.xml" Id="Ra680ca9db5f549b8" /><Relationship Type="http://schemas.openxmlformats.org/officeDocument/2006/relationships/slide" Target="/ppt/slides/slide7.xml" Id="R3623d9ead22c4bb6" /><Relationship Type="http://schemas.openxmlformats.org/officeDocument/2006/relationships/slide" Target="/ppt/slides/slide8.xml" Id="R7759c8b3ec31401d" /><Relationship Type="http://schemas.openxmlformats.org/officeDocument/2006/relationships/slide" Target="/ppt/slides/slide9.xml" Id="R991f8bb034734303" /><Relationship Type="http://schemas.openxmlformats.org/officeDocument/2006/relationships/slide" Target="/ppt/slides/slide10.xml" Id="Rd61a63f3194a4890" /><Relationship Type="http://schemas.openxmlformats.org/officeDocument/2006/relationships/slide" Target="/ppt/slides/slide11.xml" Id="R43f788220b9c477d" /><Relationship Type="http://schemas.openxmlformats.org/officeDocument/2006/relationships/slide" Target="/ppt/slides/slide12.xml" Id="R7701f658becb4549" /><Relationship Type="http://schemas.openxmlformats.org/officeDocument/2006/relationships/slide" Target="/ppt/slides/slide13.xml" Id="R9412f02173974585" /><Relationship Type="http://schemas.openxmlformats.org/officeDocument/2006/relationships/slide" Target="/ppt/slides/slide14.xml" Id="R2418c7e486a24615" /><Relationship Type="http://schemas.openxmlformats.org/officeDocument/2006/relationships/slide" Target="/ppt/slides/slide15.xml" Id="Rcd0cf4aa6ca7425d" /><Relationship Type="http://schemas.openxmlformats.org/officeDocument/2006/relationships/slide" Target="/ppt/slides/slide16.xml" Id="R3ccd7c72922e403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1d563b9407d423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969f0477b774f22" /><Relationship Type="http://schemas.openxmlformats.org/officeDocument/2006/relationships/notesMaster" Target="/ppt/notesMasters/notesMaster1.xml" Id="R34a161e5b690419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000ec30c6aa440f" /><Relationship Type="http://schemas.openxmlformats.org/officeDocument/2006/relationships/notesMaster" Target="/ppt/notesMasters/notesMaster1.xml" Id="R197756c0107e4b2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31aafea8c0947f2" /><Relationship Type="http://schemas.openxmlformats.org/officeDocument/2006/relationships/notesMaster" Target="/ppt/notesMasters/notesMaster1.xml" Id="R47e57a69fee944c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74dea6d05a04ee2" /><Relationship Type="http://schemas.openxmlformats.org/officeDocument/2006/relationships/notesMaster" Target="/ppt/notesMasters/notesMaster1.xml" Id="R65d07f5b376d433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ee41feaf00645b2" /><Relationship Type="http://schemas.openxmlformats.org/officeDocument/2006/relationships/notesMaster" Target="/ppt/notesMasters/notesMaster1.xml" Id="Rbc71982ce1564f9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92f6897f5604165" /><Relationship Type="http://schemas.openxmlformats.org/officeDocument/2006/relationships/notesMaster" Target="/ppt/notesMasters/notesMaster1.xml" Id="Rf013a83cae264f3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8b789194c934058" /><Relationship Type="http://schemas.openxmlformats.org/officeDocument/2006/relationships/notesMaster" Target="/ppt/notesMasters/notesMaster1.xml" Id="R85943dbe597b43b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38d0ec379ad49b8" /><Relationship Type="http://schemas.openxmlformats.org/officeDocument/2006/relationships/notesMaster" Target="/ppt/notesMasters/notesMaster1.xml" Id="R50c58ec345de401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cddd136be7e4b29" /><Relationship Type="http://schemas.openxmlformats.org/officeDocument/2006/relationships/notesMaster" Target="/ppt/notesMasters/notesMaster1.xml" Id="R857f24c0dc2a44b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a7464beacd14690" /><Relationship Type="http://schemas.openxmlformats.org/officeDocument/2006/relationships/notesMaster" Target="/ppt/notesMasters/notesMaster1.xml" Id="R1c166492b2954c8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c00765f7fb646bc" /><Relationship Type="http://schemas.openxmlformats.org/officeDocument/2006/relationships/notesMaster" Target="/ppt/notesMasters/notesMaster1.xml" Id="R472e2f33aab24b1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f9d15f765144237" /><Relationship Type="http://schemas.openxmlformats.org/officeDocument/2006/relationships/notesMaster" Target="/ppt/notesMasters/notesMaster1.xml" Id="Rcf91062e43e8456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3c68dfd1b1548cf" /><Relationship Type="http://schemas.openxmlformats.org/officeDocument/2006/relationships/notesMaster" Target="/ppt/notesMasters/notesMaster1.xml" Id="R50624cd7fe29457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cd1a2cdb7fb460d" /><Relationship Type="http://schemas.openxmlformats.org/officeDocument/2006/relationships/notesMaster" Target="/ppt/notesMasters/notesMaster1.xml" Id="Rb606b8aad7b5456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e698c1aa91d403a" /><Relationship Type="http://schemas.openxmlformats.org/officeDocument/2006/relationships/notesMaster" Target="/ppt/notesMasters/notesMaster1.xml" Id="R5e1f533d0fcb4da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c2b6b0bd9b948ed" /><Relationship Type="http://schemas.openxmlformats.org/officeDocument/2006/relationships/notesMaster" Target="/ppt/notesMasters/notesMaster1.xml" Id="Rcb34126bd7994d6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도입 약 8초. 2학기 개발 성과와 10월 1일 사하구청 현장 피드백을 중심으로 발표하겠습니다.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약 20초. PANG3는 방문지 관리부터 보고서 작성까지 외근의 흐름을 하나로 연결합니다. 기능 소개는 짧게 마치고 2학기 결과로 넘어갑니다.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약 18초. 1학기에 기본 업무 흐름을 구성하는 9개 기능의 MVP를 완성했습니다. 이번 학기에는 현장 사용성과 협업 기능을 보강했습니다.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약 21초. 8월에는 현장 기록, 9월에는 그룹과 업무 관리, 10월에는 경로 안내와 서비스 화면을 개선했습니다. 월 구분은 발표를 위한 분류입니다.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약 23초. 사진과 위치도를 현장에서 바로 편집하고, 음성 인식으로 메모를 입력할 수 있도록 기록 절차를 보강했습니다.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약 25초. 그룹을 만들고 구성원을 초대하는 기능, 행정동 경계와 업무 현황 지도, 완료 기록을 관리하는 대시보드를 추가했습니다.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약 25초. 도보 경로와 건물 출입구를 활용해 도착 지점을 개선했습니다. 버스 정류장과 AED 정보를 연동하고, 지도 중심으로 화면 흐름을 다시 구성했습니다.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약 12초. 10월 1일 사하구청 현장 미팅을 진행했습니다. 담당자의 의견을 듣고 개선할 내용을 정리했습니다. 다음 장에서 주요 피드백을 말씀드리겠습니다.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약 30초. 사하구청 미팅에서 화면 간소화, 위치 정확도, 협업 방식, 데이터 일괄 등록, 공공데이터의 한계, 플랫폼과 저장 방식에 대한 의견을 받았습니다.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약 20초. 네 항목은 해결했고 일괄 등록·공유와 공공시설물 데이터는 아직 남아 있습니다. 다음 장부터 반영한 네 가지 내용을 보여드리겠습니다.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약 24초. 기존에는 화면 이동과 등록 단계가 많았습니다. 지도 화면을 중심으로 재구성하고 좌표 표시를 빼서 필요한 작업에 집중하도록 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약 23초. 지도 터치만으로 위치가 바로 결정되던 방식에서 중앙 포인터 방식으로 바꿨습니다. 지도를 이동하면서 세부 위치를 조정할 수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약 25초. 팀장이 모든 방문지를 개별 배정하는 흐름을 줄이고, 각자의 업무를 관리하면서 필요한 건을 이관하도록 바꿨습니다. 행정동 단위 관리도 반영했습니다.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약 22초. 모바일 중심으로 제공하던 서비스를 웹 환경으로 넓혔습니다. 보고서를 기기에서 내려받고 저장하는 흐름도 개선했습니다.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약 25초. 남은 일괄 등록과 시설물 데이터, 알림 기능을 마무리합니다. 이어서 전체 현장 업무를 시뮬레이션하고 담당자 의견과 테스트 결과를 반영해 출시를 준비하겠습니다.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1분 30초 시연. 방문지를 등록하고 경로를 최적화한 뒤 현장 업무를 처리합니다. 보고서를 확인하고 그룹 업무 관리 화면으로 마무리합니다.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36ebf79f4a458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bceafd19694b8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5e61482fb642b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cd0efe12ad4e6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6683d6ba45470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e72f237c7f499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C0B4AD8-374C-4FD9-9AC5-ED81C02F767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43F2374-790F-4304-A70B-528D8A1805A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727D3EF-5C73-4EF0-B722-A24F89DA4B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19BA9B0-D2DF-41A3-8423-AEDD0BEC6E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C74877A-98ED-4EA0-8EB7-32A0B8487C7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62A6987-16ED-4AC8-93B4-E3CEA6C5620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2B4A07D-EC29-47A8-8FFD-012BEB14DDD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3D70F76-EAFE-4280-A021-DF1759130F5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A944FCD-4C34-42F1-ADB6-140AFCBE21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F1A12CE-095B-4B88-86E6-7A2A5E50985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b8fac8b75d54051" /><Relationship Type="http://schemas.openxmlformats.org/officeDocument/2006/relationships/slideLayout" Target="/ppt/slideLayouts/slideLayout1.xml" Id="Rf2489ee8fab248ef" /><Relationship Type="http://schemas.openxmlformats.org/officeDocument/2006/relationships/slideLayout" Target="/ppt/slideLayouts/slideLayout2.xml" Id="Rcac0e44eeffc4ae6" /><Relationship Type="http://schemas.openxmlformats.org/officeDocument/2006/relationships/slideLayout" Target="/ppt/slideLayouts/slideLayout3.xml" Id="R85270dad684446a7" /><Relationship Type="http://schemas.openxmlformats.org/officeDocument/2006/relationships/slideLayout" Target="/ppt/slideLayouts/slideLayout4.xml" Id="R5dbef3c10e844adc" /><Relationship Type="http://schemas.openxmlformats.org/officeDocument/2006/relationships/slideLayout" Target="/ppt/slideLayouts/slideLayout5.xml" Id="R2f917e91784b4f39" /><Relationship Type="http://schemas.openxmlformats.org/officeDocument/2006/relationships/slideLayout" Target="/ppt/slideLayouts/slideLayout6.xml" Id="Rc82f4b2e10724b8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2489ee8fab248ef"/>
    <p:sldLayoutId xmlns:r="http://schemas.openxmlformats.org/officeDocument/2006/relationships" id="2147483650" r:id="Rcac0e44eeffc4ae6"/>
    <p:sldLayoutId xmlns:r="http://schemas.openxmlformats.org/officeDocument/2006/relationships" id="2147483651" r:id="R85270dad684446a7"/>
    <p:sldLayoutId xmlns:r="http://schemas.openxmlformats.org/officeDocument/2006/relationships" id="2147483652" r:id="R5dbef3c10e844adc"/>
    <p:sldLayoutId xmlns:r="http://schemas.openxmlformats.org/officeDocument/2006/relationships" id="2147483653" r:id="R2f917e91784b4f39"/>
    <p:sldLayoutId xmlns:r="http://schemas.openxmlformats.org/officeDocument/2006/relationships" id="2147483654" r:id="Rc82f4b2e10724b8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ce430a270804afc" /><Relationship Type="http://schemas.openxmlformats.org/officeDocument/2006/relationships/image" Target="/ppt/media/image.png" Id="Ra632b8d168c641f8" /><Relationship Type="http://schemas.openxmlformats.org/officeDocument/2006/relationships/image" Target="/ppt/media/image.svg" Id="R456fa3c68d0f4a41" /><Relationship Type="http://schemas.openxmlformats.org/officeDocument/2006/relationships/notesSlide" Target="/ppt/notesSlides/notesSlide1.xml" Id="Rd3c43a846b9a4e9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7e76f7213c452d" /><Relationship Type="http://schemas.openxmlformats.org/officeDocument/2006/relationships/image" Target="/ppt/media/image2.png" Id="R479db63059064ef8" /><Relationship Type="http://schemas.openxmlformats.org/officeDocument/2006/relationships/image" Target="/ppt/media/image2.svg" Id="R633df04e4bf64ed6" /><Relationship Type="http://schemas.openxmlformats.org/officeDocument/2006/relationships/image" Target="/ppt/media/image3.png" Id="R8050982418c14326" /><Relationship Type="http://schemas.openxmlformats.org/officeDocument/2006/relationships/image" Target="/ppt/media/image3.svg" Id="R44593a38d1544616" /><Relationship Type="http://schemas.openxmlformats.org/officeDocument/2006/relationships/image" Target="/ppt/media/image4.png" Id="R2847aaa6f6da47f9" /><Relationship Type="http://schemas.openxmlformats.org/officeDocument/2006/relationships/image" Target="/ppt/media/image4.svg" Id="R35806d87712c4cb6" /><Relationship Type="http://schemas.openxmlformats.org/officeDocument/2006/relationships/image" Target="/ppt/media/image5.png" Id="R3d965705b3234f8c" /><Relationship Type="http://schemas.openxmlformats.org/officeDocument/2006/relationships/image" Target="/ppt/media/image5.svg" Id="Rc1c6e6601d7f4fcb" /><Relationship Type="http://schemas.openxmlformats.org/officeDocument/2006/relationships/notesSlide" Target="/ppt/notesSlides/notesSlide2.xml" Id="R217ca96a090a4e6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a3d3fbbc7a6438f" /><Relationship Type="http://schemas.openxmlformats.org/officeDocument/2006/relationships/image" Target="/ppt/media/image6.png" Id="Rfba67fd7a5cf4062" /><Relationship Type="http://schemas.openxmlformats.org/officeDocument/2006/relationships/image" Target="/ppt/media/image6.svg" Id="R925f899b82294452" /><Relationship Type="http://schemas.openxmlformats.org/officeDocument/2006/relationships/image" Target="/ppt/media/image7.png" Id="R2fb95b5a56d0482a" /><Relationship Type="http://schemas.openxmlformats.org/officeDocument/2006/relationships/image" Target="/ppt/media/image7.svg" Id="R12c2a89475ff4e84" /><Relationship Type="http://schemas.openxmlformats.org/officeDocument/2006/relationships/image" Target="/ppt/media/image8.png" Id="R60cd7d45a7c74afe" /><Relationship Type="http://schemas.openxmlformats.org/officeDocument/2006/relationships/image" Target="/ppt/media/image8.svg" Id="R290bf7d096884c7b" /><Relationship Type="http://schemas.openxmlformats.org/officeDocument/2006/relationships/image" Target="/ppt/media/image9.png" Id="Radb7aaf79b934cb6" /><Relationship Type="http://schemas.openxmlformats.org/officeDocument/2006/relationships/image" Target="/ppt/media/image9.svg" Id="Rdb721ef9a7394a05" /><Relationship Type="http://schemas.openxmlformats.org/officeDocument/2006/relationships/image" Target="/ppt/media/image10.png" Id="R1638ba4417f944ba" /><Relationship Type="http://schemas.openxmlformats.org/officeDocument/2006/relationships/image" Target="/ppt/media/image10.svg" Id="R125a4478abb441a3" /><Relationship Type="http://schemas.openxmlformats.org/officeDocument/2006/relationships/image" Target="/ppt/media/image11.png" Id="R59b37587abe6410c" /><Relationship Type="http://schemas.openxmlformats.org/officeDocument/2006/relationships/image" Target="/ppt/media/image11.svg" Id="R9a81ce4e019540a9" /><Relationship Type="http://schemas.openxmlformats.org/officeDocument/2006/relationships/image" Target="/ppt/media/image12.png" Id="R9cd2b911082a46ff" /><Relationship Type="http://schemas.openxmlformats.org/officeDocument/2006/relationships/image" Target="/ppt/media/image12.svg" Id="R0cb4567a7df54cd8" /><Relationship Type="http://schemas.openxmlformats.org/officeDocument/2006/relationships/image" Target="/ppt/media/image13.png" Id="R423537192dfb4c35" /><Relationship Type="http://schemas.openxmlformats.org/officeDocument/2006/relationships/image" Target="/ppt/media/image13.svg" Id="Rc69b94791a754e8d" /><Relationship Type="http://schemas.openxmlformats.org/officeDocument/2006/relationships/image" Target="/ppt/media/image14.png" Id="Rfa0da275160d4752" /><Relationship Type="http://schemas.openxmlformats.org/officeDocument/2006/relationships/image" Target="/ppt/media/image14.svg" Id="R87cd9b731da14e40" /><Relationship Type="http://schemas.openxmlformats.org/officeDocument/2006/relationships/notesSlide" Target="/ppt/notesSlides/notesSlide3.xml" Id="Rbcdf0e472417469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afafdfb9ccb4ff9" /><Relationship Type="http://schemas.openxmlformats.org/officeDocument/2006/relationships/image" Target="/ppt/media/image15.png" Id="Ra025316bae64400e" /><Relationship Type="http://schemas.openxmlformats.org/officeDocument/2006/relationships/image" Target="/ppt/media/image15.svg" Id="R254704a6c03748a4" /><Relationship Type="http://schemas.openxmlformats.org/officeDocument/2006/relationships/image" Target="/ppt/media/image16.png" Id="R9e8ff0a7efa44cdb" /><Relationship Type="http://schemas.openxmlformats.org/officeDocument/2006/relationships/image" Target="/ppt/media/image16.svg" Id="R0c2fc1923b614dc4" /><Relationship Type="http://schemas.openxmlformats.org/officeDocument/2006/relationships/image" Target="/ppt/media/image17.png" Id="Ra3a2a8ad5a6645f8" /><Relationship Type="http://schemas.openxmlformats.org/officeDocument/2006/relationships/image" Target="/ppt/media/image17.svg" Id="Re71ced0589f04feb" /><Relationship Type="http://schemas.openxmlformats.org/officeDocument/2006/relationships/notesSlide" Target="/ppt/notesSlides/notesSlide4.xml" Id="R715e50b99b4b47b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842803979804f6e" /><Relationship Type="http://schemas.openxmlformats.org/officeDocument/2006/relationships/image" Target="/ppt/media/image18.png" Id="R5cf3bed373b54b60" /><Relationship Type="http://schemas.openxmlformats.org/officeDocument/2006/relationships/image" Target="/ppt/media/image18.svg" Id="R92b4eb6fefe3456d" /><Relationship Type="http://schemas.openxmlformats.org/officeDocument/2006/relationships/image" Target="/ppt/media/image19.png" Id="Rfc741aa5e7a74df8" /><Relationship Type="http://schemas.openxmlformats.org/officeDocument/2006/relationships/image" Target="/ppt/media/image19.svg" Id="R3e904f6f5f634fa9" /><Relationship Type="http://schemas.openxmlformats.org/officeDocument/2006/relationships/image" Target="/ppt/media/image20.png" Id="R3189245850e24ac3" /><Relationship Type="http://schemas.openxmlformats.org/officeDocument/2006/relationships/image" Target="/ppt/media/image20.svg" Id="R954a1a21e87e4395" /><Relationship Type="http://schemas.openxmlformats.org/officeDocument/2006/relationships/notesSlide" Target="/ppt/notesSlides/notesSlide5.xml" Id="Ree410be49c6d442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2c8a34345594e62" /><Relationship Type="http://schemas.openxmlformats.org/officeDocument/2006/relationships/image" Target="/ppt/media/image21.png" Id="Rae8a353a2e0442d3" /><Relationship Type="http://schemas.openxmlformats.org/officeDocument/2006/relationships/image" Target="/ppt/media/image21.svg" Id="R26b3bd8c45c746bc" /><Relationship Type="http://schemas.openxmlformats.org/officeDocument/2006/relationships/image" Target="/ppt/media/image22.png" Id="R080ff79d2c3e4f39" /><Relationship Type="http://schemas.openxmlformats.org/officeDocument/2006/relationships/image" Target="/ppt/media/image22.svg" Id="R1a847756fe7444c6" /><Relationship Type="http://schemas.openxmlformats.org/officeDocument/2006/relationships/image" Target="/ppt/media/image23.png" Id="R8fc2514984644a0a" /><Relationship Type="http://schemas.openxmlformats.org/officeDocument/2006/relationships/image" Target="/ppt/media/image23.svg" Id="R32913ab6cc2c41bc" /><Relationship Type="http://schemas.openxmlformats.org/officeDocument/2006/relationships/notesSlide" Target="/ppt/notesSlides/notesSlide6.xml" Id="Rc46f08fe38a0425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d75f7454d444c13" /><Relationship Type="http://schemas.openxmlformats.org/officeDocument/2006/relationships/image" Target="/ppt/media/image24.png" Id="R20d7e50cd7484092" /><Relationship Type="http://schemas.openxmlformats.org/officeDocument/2006/relationships/image" Target="/ppt/media/image24.svg" Id="Rd5d07eec44df45a0" /><Relationship Type="http://schemas.openxmlformats.org/officeDocument/2006/relationships/image" Target="/ppt/media/image25.png" Id="Rb38376fea7194069" /><Relationship Type="http://schemas.openxmlformats.org/officeDocument/2006/relationships/image" Target="/ppt/media/image25.svg" Id="Rd4788adca1da4d9f" /><Relationship Type="http://schemas.openxmlformats.org/officeDocument/2006/relationships/image" Target="/ppt/media/image26.png" Id="Rcf7eb5429c644fa5" /><Relationship Type="http://schemas.openxmlformats.org/officeDocument/2006/relationships/image" Target="/ppt/media/image26.svg" Id="Re659f0df0bb6425d" /><Relationship Type="http://schemas.openxmlformats.org/officeDocument/2006/relationships/notesSlide" Target="/ppt/notesSlides/notesSlide7.xml" Id="Rdfcac85fcd7b474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766c0ef91a54615" /><Relationship Type="http://schemas.openxmlformats.org/officeDocument/2006/relationships/image" Target="/ppt/media/image27.png" Id="Rf37ce6c7da8347de" /><Relationship Type="http://schemas.openxmlformats.org/officeDocument/2006/relationships/image" Target="/ppt/media/image27.svg" Id="R27dce223be4b45b9" /><Relationship Type="http://schemas.openxmlformats.org/officeDocument/2006/relationships/notesSlide" Target="/ppt/notesSlides/notesSlide8.xml" Id="R4c67cdcd431a4eb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8bed9bb321448ad" /><Relationship Type="http://schemas.openxmlformats.org/officeDocument/2006/relationships/image" Target="/ppt/media/image28.png" Id="R4a4d5e680c844014" /><Relationship Type="http://schemas.openxmlformats.org/officeDocument/2006/relationships/image" Target="/ppt/media/image28.svg" Id="Ref820fa0ae2f4e32" /><Relationship Type="http://schemas.openxmlformats.org/officeDocument/2006/relationships/image" Target="/ppt/media/image29.png" Id="R9ec3e236e3c844c3" /><Relationship Type="http://schemas.openxmlformats.org/officeDocument/2006/relationships/image" Target="/ppt/media/image29.svg" Id="Rdcf7bacfc4e8445b" /><Relationship Type="http://schemas.openxmlformats.org/officeDocument/2006/relationships/image" Target="/ppt/media/image30.png" Id="Rb97d5c1e1df141e3" /><Relationship Type="http://schemas.openxmlformats.org/officeDocument/2006/relationships/image" Target="/ppt/media/image30.svg" Id="R4a7cd9c1b6434b14" /><Relationship Type="http://schemas.openxmlformats.org/officeDocument/2006/relationships/image" Target="/ppt/media/image31.png" Id="Re4ee6d4cb34b4d49" /><Relationship Type="http://schemas.openxmlformats.org/officeDocument/2006/relationships/image" Target="/ppt/media/image31.svg" Id="Rda2913c66b8b47b0" /><Relationship Type="http://schemas.openxmlformats.org/officeDocument/2006/relationships/image" Target="/ppt/media/image32.png" Id="R0f4adc2903c44d59" /><Relationship Type="http://schemas.openxmlformats.org/officeDocument/2006/relationships/image" Target="/ppt/media/image32.svg" Id="R0b739850de744d56" /><Relationship Type="http://schemas.openxmlformats.org/officeDocument/2006/relationships/image" Target="/ppt/media/image33.png" Id="Rb6e04c74a0324778" /><Relationship Type="http://schemas.openxmlformats.org/officeDocument/2006/relationships/image" Target="/ppt/media/image33.svg" Id="R2cc1fa8898e742b4" /><Relationship Type="http://schemas.openxmlformats.org/officeDocument/2006/relationships/notesSlide" Target="/ppt/notesSlides/notesSlide9.xml" Id="R869879cb0134477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1c3dcffaca34ff7" /><Relationship Type="http://schemas.openxmlformats.org/officeDocument/2006/relationships/image" Target="/ppt/media/image34.png" Id="R93fafe88a5194e68" /><Relationship Type="http://schemas.openxmlformats.org/officeDocument/2006/relationships/image" Target="/ppt/media/image34.svg" Id="Re9b2b6af35ed4d61" /><Relationship Type="http://schemas.openxmlformats.org/officeDocument/2006/relationships/notesSlide" Target="/ppt/notesSlides/notesSlide10.xml" Id="Rd1593a9e1ebe4f6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d5021723554420" /><Relationship Type="http://schemas.openxmlformats.org/officeDocument/2006/relationships/image" Target="/ppt/media/image35.png" Id="R32598fd47c2344a2" /><Relationship Type="http://schemas.openxmlformats.org/officeDocument/2006/relationships/image" Target="/ppt/media/image35.svg" Id="Racbb60bc3280495b" /><Relationship Type="http://schemas.openxmlformats.org/officeDocument/2006/relationships/notesSlide" Target="/ppt/notesSlides/notesSlide11.xml" Id="Rc8656f2271e84f7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9170d883e74881" /><Relationship Type="http://schemas.openxmlformats.org/officeDocument/2006/relationships/image" Target="/ppt/media/image36.png" Id="Ra5ed0c45d578411b" /><Relationship Type="http://schemas.openxmlformats.org/officeDocument/2006/relationships/image" Target="/ppt/media/image36.svg" Id="R2c21e5dcb508434e" /><Relationship Type="http://schemas.openxmlformats.org/officeDocument/2006/relationships/notesSlide" Target="/ppt/notesSlides/notesSlide12.xml" Id="R06066b36150a43e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88a1b91d4d641f9" /><Relationship Type="http://schemas.openxmlformats.org/officeDocument/2006/relationships/image" Target="/ppt/media/image37.png" Id="R89f25cda77334403" /><Relationship Type="http://schemas.openxmlformats.org/officeDocument/2006/relationships/image" Target="/ppt/media/image37.svg" Id="R9a21d3ee01f74548" /><Relationship Type="http://schemas.openxmlformats.org/officeDocument/2006/relationships/notesSlide" Target="/ppt/notesSlides/notesSlide13.xml" Id="R4595df4b504c40b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bf57d84f18f49f3" /><Relationship Type="http://schemas.openxmlformats.org/officeDocument/2006/relationships/image" Target="/ppt/media/image38.png" Id="R44a112d9fab640e6" /><Relationship Type="http://schemas.openxmlformats.org/officeDocument/2006/relationships/image" Target="/ppt/media/image38.svg" Id="Rcaefe006748a4375" /><Relationship Type="http://schemas.openxmlformats.org/officeDocument/2006/relationships/notesSlide" Target="/ppt/notesSlides/notesSlide14.xml" Id="R0ecbea3ad28549e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1242f2243864190" /><Relationship Type="http://schemas.openxmlformats.org/officeDocument/2006/relationships/image" Target="/ppt/media/image39.png" Id="R28b6126839c3417f" /><Relationship Type="http://schemas.openxmlformats.org/officeDocument/2006/relationships/image" Target="/ppt/media/image39.svg" Id="Ra2edf19985844d0b" /><Relationship Type="http://schemas.openxmlformats.org/officeDocument/2006/relationships/image" Target="/ppt/media/image40.png" Id="Rcb54b9aba1024bb4" /><Relationship Type="http://schemas.openxmlformats.org/officeDocument/2006/relationships/image" Target="/ppt/media/image40.svg" Id="R85657314c5ed4f82" /><Relationship Type="http://schemas.openxmlformats.org/officeDocument/2006/relationships/image" Target="/ppt/media/image41.png" Id="R5334a83a8968431a" /><Relationship Type="http://schemas.openxmlformats.org/officeDocument/2006/relationships/image" Target="/ppt/media/image41.svg" Id="R0288ea40879b460b" /><Relationship Type="http://schemas.openxmlformats.org/officeDocument/2006/relationships/image" Target="/ppt/media/image42.png" Id="R65b7f3cbe7b24266" /><Relationship Type="http://schemas.openxmlformats.org/officeDocument/2006/relationships/image" Target="/ppt/media/image42.svg" Id="R8fb088bf945143fe" /><Relationship Type="http://schemas.openxmlformats.org/officeDocument/2006/relationships/notesSlide" Target="/ppt/notesSlides/notesSlide15.xml" Id="Rbecd890b356d45e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5701d4c7e78413e" /><Relationship Type="http://schemas.openxmlformats.org/officeDocument/2006/relationships/image" Target="/ppt/media/image43.png" Id="R8dec7ef631e14c61" /><Relationship Type="http://schemas.openxmlformats.org/officeDocument/2006/relationships/image" Target="/ppt/media/image43.svg" Id="R42f4fc55b9e24bac" /><Relationship Type="http://schemas.openxmlformats.org/officeDocument/2006/relationships/notesSlide" Target="/ppt/notesSlides/notesSlide16.xml" Id="Rc96b61a7777940d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1F432D-D618-4906-963F-1BBD66A3F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024980-1361-4E18-AE37-A9DA153E9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04900"/>
            <a:ext cx="590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58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58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58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PANG3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793945-B764-4E2D-B698-26F017640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33625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0A6E0E-93E5-42C6-B6C9-C513BD8E0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09850"/>
            <a:ext cx="809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2026년 2학기 중간발표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5FC97B-A45C-4A4B-BE45-02FA8CAF1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14725"/>
            <a:ext cx="809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rPr>
              <a:t>지도 기반 사하구 외근 도우미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0FA94D-4C43-4B2C-92BE-6E46D7067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62575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0C8D91"/>
                </a:solidFill>
                <a:latin typeface="Malgun Gothic"/>
                <a:ea typeface="Malgun Gothic"/>
                <a:cs typeface="Malgun Gothic"/>
              </a:rPr>
              <a:t>개발 성과 · 현장 피드백 · 개선 결과 · 향후 계획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63F5A2-AC64-44AF-9C17-8CFC4D68E19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32b8d168c641f8">
            <a:extLst>
              <a:ext uri="{96DAC541-7B7A-43D3-8B79-37D633B846F1}">
                <asvg:svgBlip xmlns:asvg="http://schemas.microsoft.com/office/drawing/2016/SVG/main" r:embed="R456fa3c68d0f4a4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525000" y="1476375"/>
            <a:ext cx="952500" cy="95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54746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9C7FCF-864E-4A36-8983-5896DF258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82FC27-F0A8-4572-8C62-8FF0B35C1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지도 기반 사하구 외근 도우미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9733C3-43EC-4025-8E62-BED0C03A6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ACB2A2-036C-4FA1-B99F-BD5E62FA1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809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rPr>
              <a:t>서비스 소개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19675A-39AB-48D1-8707-ECC114C10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9602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B0D40F-DD2A-4D60-BC8F-86FD74D09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32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현장 업무의 전 과정을 하나로 연결하는 통합 관리 서비스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AF3608-3EA0-4C1D-BBAC-F2E0E650F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52197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4"/>
          </a:solidFill>
          <a:ln xmlns:a="http://schemas.openxmlformats.org/drawingml/2006/main" w="9525">
            <a:noFill/>
            <a:prstDash val="solid"/>
          </a:ln>
        </p:spPr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7054D4-1E1E-457C-B2EE-809023ECF97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9db63059064ef8">
            <a:extLst>
              <a:ext uri="{96DAC541-7B7A-43D3-8B79-37D633B846F1}">
                <asvg:svgBlip xmlns:asvg="http://schemas.microsoft.com/office/drawing/2016/SVG/main" r:embed="R633df04e4bf64ed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19150" y="2695575"/>
            <a:ext cx="371475" cy="37147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9609DE-3E9C-4D11-8022-760659DFC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2609850"/>
            <a:ext cx="42481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방문지 관리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49944D-D66C-4759-B453-2400F1293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381250"/>
            <a:ext cx="52197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4"/>
          </a:solidFill>
          <a:ln xmlns:a="http://schemas.openxmlformats.org/drawingml/2006/main" w="9525">
            <a:noFill/>
            <a:prstDash val="solid"/>
          </a:ln>
        </p:spPr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1E07DB-3FD7-436F-B9C9-0EE35A4F51F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50982418c14326">
            <a:extLst>
              <a:ext uri="{96DAC541-7B7A-43D3-8B79-37D633B846F1}">
                <asvg:svgBlip xmlns:asvg="http://schemas.microsoft.com/office/drawing/2016/SVG/main" r:embed="R44593a38d154461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286500" y="2695575"/>
            <a:ext cx="371475" cy="371475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DD658E-97F4-40B5-8C76-CD9332E34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609850"/>
            <a:ext cx="42481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경로 최적화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F55879-BEFA-44DD-BA8E-51340437B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52197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4"/>
          </a:solidFill>
          <a:ln xmlns:a="http://schemas.openxmlformats.org/drawingml/2006/main" w="9525">
            <a:noFill/>
            <a:prstDash val="solid"/>
          </a:ln>
        </p:spPr>
      </p:sp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53EF81-80CF-4C93-805E-4C768002E16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47aaa6f6da47f9">
            <a:extLst>
              <a:ext uri="{96DAC541-7B7A-43D3-8B79-37D633B846F1}">
                <asvg:svgBlip xmlns:asvg="http://schemas.microsoft.com/office/drawing/2016/SVG/main" r:embed="R35806d87712c4cb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19150" y="3952875"/>
            <a:ext cx="371475" cy="371475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3730B0-90F9-4443-827A-8C22F58B7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3867150"/>
            <a:ext cx="42481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현장 업무 처리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27D359-E72E-410D-8307-4D864F385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638550"/>
            <a:ext cx="52197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4"/>
          </a:solidFill>
          <a:ln xmlns:a="http://schemas.openxmlformats.org/drawingml/2006/main" w="9525">
            <a:noFill/>
            <a:prstDash val="solid"/>
          </a:ln>
        </p:spPr>
      </p:sp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D98BF1-190D-4D9E-9274-880AE7A5316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965705b3234f8c">
            <a:extLst>
              <a:ext uri="{96DAC541-7B7A-43D3-8B79-37D633B846F1}">
                <asvg:svgBlip xmlns:asvg="http://schemas.microsoft.com/office/drawing/2016/SVG/main" r:embed="Rc1c6e6601d7f4fc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286500" y="3952875"/>
            <a:ext cx="371475" cy="371475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1C24BD-22FD-4F00-A7E4-D4C602491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867150"/>
            <a:ext cx="42481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보고서 작성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EC4CA7-59D5-4C8A-86C7-205033BF2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rPr>
              <a:t>외근 계획  →  현장 방문  →  업무 처리  →  결과 보고</a:t>
            </a:r>
          </a:p>
        </p:txBody>
      </p:sp>
    </p:spTree>
    <p:extLst>
      <p:ext uri="{BB962C8B-B14F-4D97-AF65-F5344CB8AC3E}">
        <p14:creationId xmlns:p14="http://schemas.microsoft.com/office/powerpoint/2010/main" val="61550205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FF40BB7-51B2-4185-823B-1E05CE437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68D75B-C430-48B6-9CB5-6E10D2441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1학기 MVP 구현 완료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CC7878-B241-4291-89F0-D9A5CCBFE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CD56DA-BF19-4E20-A31F-A05276D6A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809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rPr>
              <a:t>1학기 구현 성과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315105-CB4B-4A7C-9232-17DA9C88A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9602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DB0535-9014-4B0F-9AAF-043D69C8A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3486150" cy="1304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9525">
            <a:solidFill>
              <a:srgbClr val="CAD6D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5D7766-4F61-4FBF-8CEA-7E3523E3E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552575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1AAA67-9439-4484-81C5-DEDB1F90CF4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a67fd7a5cf4062">
            <a:extLst>
              <a:ext uri="{96DAC541-7B7A-43D3-8B79-37D633B846F1}">
                <asvg:svgBlip xmlns:asvg="http://schemas.microsoft.com/office/drawing/2016/SVG/main" r:embed="R925f899b8229445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629025" y="1562100"/>
            <a:ext cx="276225" cy="27622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5315A8-FEAD-4E1B-B27A-000CEDA02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905000"/>
            <a:ext cx="31432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로그인 및 회원가입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959C85-68B6-4F10-952E-739F4D652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381125"/>
            <a:ext cx="3486150" cy="1304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9525">
            <a:solidFill>
              <a:srgbClr val="CAD6D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F80523-7191-4E73-8CCC-8C86872A0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552575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DBE539-9DB4-4700-8633-0CDB63DEC02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b95b5a56d0482a">
            <a:extLst>
              <a:ext uri="{96DAC541-7B7A-43D3-8B79-37D633B846F1}">
                <asvg:svgBlip xmlns:asvg="http://schemas.microsoft.com/office/drawing/2016/SVG/main" r:embed="R12c2a89475ff4e8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362825" y="1562100"/>
            <a:ext cx="276225" cy="276225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CF9971-3882-4C77-840D-A5E83D3D9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905000"/>
            <a:ext cx="31432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지도 기반 방문지 추가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FD6573-B2B5-4ACD-BD2B-C9C38B21F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381125"/>
            <a:ext cx="3486150" cy="1304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9525">
            <a:solidFill>
              <a:srgbClr val="CAD6D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8C6635-9E8F-453F-A6F9-A8B34B000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1552575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6F259C-D7D6-47DB-AACC-DEA650900BD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cd7d45a7c74afe">
            <a:extLst>
              <a:ext uri="{96DAC541-7B7A-43D3-8B79-37D633B846F1}">
                <asvg:svgBlip xmlns:asvg="http://schemas.microsoft.com/office/drawing/2016/SVG/main" r:embed="R290bf7d096884c7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096625" y="1562100"/>
            <a:ext cx="276225" cy="276225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8EB95E-0E94-424E-8B4A-D9AAB13E4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1905000"/>
            <a:ext cx="31432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목적지 리스트 관리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CA289D-8F6D-4CDA-BE63-9F6F043B4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3486150" cy="1304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9525">
            <a:solidFill>
              <a:srgbClr val="CAD6D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7E0E16-2F73-4801-BCF8-8EDE79C47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1051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pic>
        <p:nvPic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54306F-5157-49C7-8B10-515DC71DACA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b7aaf79b934cb6">
            <a:extLst>
              <a:ext uri="{96DAC541-7B7A-43D3-8B79-37D633B846F1}">
                <asvg:svgBlip xmlns:asvg="http://schemas.microsoft.com/office/drawing/2016/SVG/main" r:embed="Rdb721ef9a7394a0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629025" y="3114675"/>
            <a:ext cx="276225" cy="276225"/>
          </a:xfrm>
          <a:prstGeom xmlns:a="http://schemas.openxmlformats.org/drawingml/2006/main" prst="rect">
            <a:avLst/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DFD3C2-88B9-41A2-B81A-DA3DF233F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457575"/>
            <a:ext cx="31432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다중 목적지 경로 최적화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3391D8-DC00-462D-9135-C02B3C887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933700"/>
            <a:ext cx="3486150" cy="1304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9525">
            <a:solidFill>
              <a:srgbClr val="CAD6D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923E5D-2490-4BB1-A795-CB77B0C09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1051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pic>
        <p:nvPic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8890C07-FDA8-4890-BE4F-84EFB3F977B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38ba4417f944ba">
            <a:extLst>
              <a:ext uri="{96DAC541-7B7A-43D3-8B79-37D633B846F1}">
                <asvg:svgBlip xmlns:asvg="http://schemas.microsoft.com/office/drawing/2016/SVG/main" r:embed="R125a4478abb441a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362825" y="3114675"/>
            <a:ext cx="276225" cy="276225"/>
          </a:xfrm>
          <a:prstGeom xmlns:a="http://schemas.openxmlformats.org/drawingml/2006/main" prst="rect">
            <a:avLst/>
          </a:prstGeom>
        </p:spPr>
      </p:pic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37531B-6981-4F78-A689-8E747B44E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457575"/>
            <a:ext cx="31432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차량·도보 경로 안내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83612EF-BE16-4B57-9230-B09A9076E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933700"/>
            <a:ext cx="3486150" cy="1304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9525">
            <a:solidFill>
              <a:srgbClr val="CAD6D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B4FD6B-851E-4D0A-A266-8035D6632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31051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pic>
        <p:nvPic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4D6E90E-788E-496E-8FD2-FBDE649F541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b37587abe6410c">
            <a:extLst>
              <a:ext uri="{96DAC541-7B7A-43D3-8B79-37D633B846F1}">
                <asvg:svgBlip xmlns:asvg="http://schemas.microsoft.com/office/drawing/2016/SVG/main" r:embed="R9a81ce4e019540a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096625" y="3114675"/>
            <a:ext cx="276225" cy="276225"/>
          </a:xfrm>
          <a:prstGeom xmlns:a="http://schemas.openxmlformats.org/drawingml/2006/main" prst="rect">
            <a:avLst/>
          </a:prstGeom>
        </p:spPr>
      </p:pic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17E7BBA-D4A4-4143-B98D-857D900C1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3457575"/>
            <a:ext cx="31432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도착 후 작업 시작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12E9640-5B11-4AA7-9AE0-468AD59C1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86275"/>
            <a:ext cx="3486150" cy="1304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9525">
            <a:solidFill>
              <a:srgbClr val="CAD6D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B6CE87F-12D5-4F8E-A8CB-EF601D100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657725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pic>
        <p:nvPic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6C88505-1F36-48D8-8609-660EAAAF625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d2b911082a46ff">
            <a:extLst>
              <a:ext uri="{96DAC541-7B7A-43D3-8B79-37D633B846F1}">
                <asvg:svgBlip xmlns:asvg="http://schemas.microsoft.com/office/drawing/2016/SVG/main" r:embed="R0cb4567a7df54cd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629025" y="4667250"/>
            <a:ext cx="276225" cy="276225"/>
          </a:xfrm>
          <a:prstGeom xmlns:a="http://schemas.openxmlformats.org/drawingml/2006/main" prst="rect">
            <a:avLst/>
          </a:prstGeom>
        </p:spPr>
      </p:pic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1FD87F3-032A-46AB-93A7-2CFA90648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010150"/>
            <a:ext cx="31432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작업 상태 실시간 변경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145CB07-ACCE-4E6C-B035-D9726BD80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486275"/>
            <a:ext cx="3486150" cy="1304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9525">
            <a:solidFill>
              <a:srgbClr val="CAD6D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163E28F-9451-4E66-B346-A89B4F17C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657725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pic>
        <p:nvPic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2C4D5E8-23FE-485C-8AC0-64FDDA2119D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3537192dfb4c35">
            <a:extLst>
              <a:ext uri="{96DAC541-7B7A-43D3-8B79-37D633B846F1}">
                <asvg:svgBlip xmlns:asvg="http://schemas.microsoft.com/office/drawing/2016/SVG/main" r:embed="Rc69b94791a754e8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362825" y="4667250"/>
            <a:ext cx="276225" cy="276225"/>
          </a:xfrm>
          <a:prstGeom xmlns:a="http://schemas.openxmlformats.org/drawingml/2006/main" prst="rect">
            <a:avLst/>
          </a:prstGeom>
        </p:spPr>
      </p:pic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039DA6E-1717-4ACE-B5B7-7735EE916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5010150"/>
            <a:ext cx="31432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현장 사진·메모 입력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A5CC8BA-A0FB-4CE9-BC96-9B4510306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486275"/>
            <a:ext cx="3486150" cy="1304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9525">
            <a:solidFill>
              <a:srgbClr val="CAD6D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A59799B-7A8E-4936-847F-A6D844FD4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4657725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pic>
        <p:nvPic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C962125-FC53-4BAA-93D7-57A26F99096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0da275160d4752">
            <a:extLst>
              <a:ext uri="{96DAC541-7B7A-43D3-8B79-37D633B846F1}">
                <asvg:svgBlip xmlns:asvg="http://schemas.microsoft.com/office/drawing/2016/SVG/main" r:embed="R87cd9b731da14e4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096625" y="4667250"/>
            <a:ext cx="276225" cy="276225"/>
          </a:xfrm>
          <a:prstGeom xmlns:a="http://schemas.openxmlformats.org/drawingml/2006/main" prst="rect">
            <a:avLst/>
          </a:prstGeom>
        </p:spPr>
      </p:pic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575DED1-BFCB-4BD7-A251-523FB1951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5010150"/>
            <a:ext cx="31432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보고서 생성</a:t>
            </a:r>
          </a:p>
        </p:txBody>
      </p:sp>
    </p:spTree>
    <p:extLst>
      <p:ext uri="{BB962C8B-B14F-4D97-AF65-F5344CB8AC3E}">
        <p14:creationId xmlns:p14="http://schemas.microsoft.com/office/powerpoint/2010/main" val="101930527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035EED4-5F55-4C36-9640-8DD508103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9E1285-27C2-4FDE-9FC7-A471BC053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2학기 주요 개발 과정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9716E2-C0B9-4485-8158-63BC17A60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038527-1E13-49A9-8FC5-48013D494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809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rPr>
              <a:t>8월부터 10월까지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4F6AAA-73A1-4BE3-AC8B-AD27E460B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9602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42EB6F-7830-4C95-A668-8F78F4BFB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3486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9525">
            <a:solidFill>
              <a:srgbClr val="CAD6D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AFB9F1-D573-4747-A6FD-A76EE9AFB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1733550"/>
            <a:ext cx="1047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rPr>
              <a:t>8월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CC7F46-5BDD-47C7-9B04-D036F8893FC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25316bae64400e">
            <a:extLst>
              <a:ext uri="{96DAC541-7B7A-43D3-8B79-37D633B846F1}">
                <asvg:svgBlip xmlns:asvg="http://schemas.microsoft.com/office/drawing/2016/SVG/main" r:embed="R254704a6c03748a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505200" y="175260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344590-6A45-4B08-BD5D-AE12A4640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419350"/>
            <a:ext cx="3028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현장 기록 기능 고도화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3EE702-0C6B-4D9B-B8D7-B714B7123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267075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CBDBAB-1F5E-4692-9B8B-CD2AEDE6B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5909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3736CA-30B6-4C16-B84A-05E028D17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486150"/>
            <a:ext cx="28384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사진 편집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F79A0E-66D1-4C9B-AB3D-F3E1DF66F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1624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10D15A-64CA-4FF7-883B-937C88BAF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057650"/>
            <a:ext cx="28384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위치도 편집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F58B1F-7C10-44CC-ADDC-5B37B4013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7339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C85F67-586F-43EE-9379-25326D571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629150"/>
            <a:ext cx="28384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음성 입력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CDEA5A-7061-4840-9477-4171BB21A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485900"/>
            <a:ext cx="3486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9525">
            <a:solidFill>
              <a:srgbClr val="CAD6D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F42788-B72A-41FA-89A4-4ADBE2C5A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1733550"/>
            <a:ext cx="1047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rPr>
              <a:t>9월</a:t>
            </a:r>
          </a:p>
        </p:txBody>
      </p:sp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467BA2-8CBB-4220-8945-243DBE8C60C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8ff0a7efa44cdb">
            <a:extLst>
              <a:ext uri="{96DAC541-7B7A-43D3-8B79-37D633B846F1}">
                <asvg:svgBlip xmlns:asvg="http://schemas.microsoft.com/office/drawing/2016/SVG/main" r:embed="R0c2fc1923b614dc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239000" y="175260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1E9298-E39F-4BDB-BF72-B0FAD7222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419350"/>
            <a:ext cx="3028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그룹 협업 및 업무 관리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E24B35-AB53-4110-BBE2-3C42D536F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267075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76C74F-BFBB-4A24-8924-ABB7520F4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5909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F42B8C-3EE6-4695-8CF0-00D553C81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486150"/>
            <a:ext cx="28384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그룹 생성·초대·업무 관리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30CDFA-B523-446F-BE77-541DEAAC6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41624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994F508-B336-49FC-A57A-2C58D2353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4057650"/>
            <a:ext cx="28384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행정동 경계·업무 현황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0E85F01-4C34-430D-B334-FC64DC7DF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47339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52BA678-89A6-4920-8B77-6FE974ACB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4629150"/>
            <a:ext cx="28384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대시보드·업무 데이터 관리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86DE32E-E7E5-47AE-8012-E4CAED2FB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485900"/>
            <a:ext cx="3486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4"/>
          </a:solidFill>
          <a:ln xmlns:a="http://schemas.openxmlformats.org/drawingml/2006/main" w="9525">
            <a:solidFill>
              <a:srgbClr val="CAD6D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ACBDBD0-AD41-45C9-A519-D2F7ABB61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1733550"/>
            <a:ext cx="1047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rPr>
              <a:t>10월</a:t>
            </a:r>
          </a:p>
        </p:txBody>
      </p:sp>
      <p:pic>
        <p:nvPic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AE9C819-7DD2-4DC4-92C5-2D3F60D7F32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a2a8ad5a6645f8">
            <a:extLst>
              <a:ext uri="{96DAC541-7B7A-43D3-8B79-37D633B846F1}">
                <asvg:svgBlip xmlns:asvg="http://schemas.microsoft.com/office/drawing/2016/SVG/main" r:embed="Re71ced0589f04fe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972800" y="175260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7E53DD3-BC4A-4A87-857F-B01446817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2419350"/>
            <a:ext cx="3028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경로 안내 및 서비스 개선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895831D-FC6B-45F0-8ACE-85F1C0D70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3267075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951143C-E1E2-40DB-B53B-931F2AF98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35909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A602EA2-0BEA-44BC-B2F3-73EB2456C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3486150"/>
            <a:ext cx="28384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경로 안내 개선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FDBE349-090A-4D89-B59B-3ED3F61AD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41624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037CE02-6042-43B2-9EFA-CDE3ACDA5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4057650"/>
            <a:ext cx="28384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공공데이터 연동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1675BB1-ACCF-4600-B302-36AA869BF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47339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091A1A4-0164-4557-8BDC-570F001E9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4629150"/>
            <a:ext cx="28384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UI/UX 개선</a:t>
            </a:r>
          </a:p>
        </p:txBody>
      </p:sp>
    </p:spTree>
    <p:extLst>
      <p:ext uri="{BB962C8B-B14F-4D97-AF65-F5344CB8AC3E}">
        <p14:creationId xmlns:p14="http://schemas.microsoft.com/office/powerpoint/2010/main" val="64611929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FDDC1F5-0FEF-4C37-A7EE-A8CEBC8E2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80F7ED-42C5-4C7C-B0AA-6E964346C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8월 — 현장 기록 기능 고도화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E07FF6-42BE-4ECB-A8E9-120E2327F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3CAB6A-7A50-483C-A7C3-3E75A785B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809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rPr>
              <a:t>2학기 개발 성과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7369F5-B928-4BC4-8515-8E5CE6821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9602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F5D937-CA54-4C7C-8B1F-2891B206DEF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f3bed373b54b60">
            <a:extLst>
              <a:ext uri="{96DAC541-7B7A-43D3-8B79-37D633B846F1}">
                <asvg:svgBlip xmlns:asvg="http://schemas.microsoft.com/office/drawing/2016/SVG/main" r:embed="R92b4eb6fefe3456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9600" y="133350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065CE6-3E15-47E8-884C-8454A8321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314450"/>
            <a:ext cx="29908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사진 편집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F56653-A43C-4BFF-8E15-801F071FB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3390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61EDA4-EB51-4B7A-996C-22A3A8F3B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B19984-18B9-4943-8DA5-B0E95C6A3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76425"/>
            <a:ext cx="3200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사진 회전·크롭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554A28-8C72-4BC8-974A-E5162D90F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688F8B-18A4-49A9-A00A-632759C60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81225"/>
            <a:ext cx="3200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빨간펜 표시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37117C-FCD5-4823-93DB-DBC0CE95C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028950"/>
            <a:ext cx="1619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AD6D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68857F-7B42-4534-B4E5-A8D1AE9C3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43243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rPr>
              <a:t>앱 화면 삽입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F18565-B64C-472F-9C50-2C1357E4E08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741aa5e7a74df8">
            <a:extLst>
              <a:ext uri="{96DAC541-7B7A-43D3-8B79-37D633B846F1}">
                <asvg:svgBlip xmlns:asvg="http://schemas.microsoft.com/office/drawing/2016/SVG/main" r:embed="R3e904f6f5f634fa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391025" y="133350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183D9F-2E11-408A-B5D5-CA55BFD68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1314450"/>
            <a:ext cx="29908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위치도 편집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058EF8-1BAA-42B0-B1E2-499400F56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1733550"/>
            <a:ext cx="3390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88846D-14B4-4454-B105-1D940295A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19812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757A16-83CE-4E71-88EA-3AD368C9A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1876425"/>
            <a:ext cx="3200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위치도 수정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1CA8E9-9338-4408-9D5F-08CD634E7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22860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93FE7C-7703-4E4C-ABAF-BE6FAE920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181225"/>
            <a:ext cx="3200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문제 위치 표시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76A341-A85D-4589-9868-FF5FCA9EB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028950"/>
            <a:ext cx="1619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AD6D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E91DA5-9DC8-4528-8DC8-EE9600F03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3243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rPr>
              <a:t>앱 화면 삽입</a:t>
            </a:r>
          </a:p>
        </p:txBody>
      </p:sp>
      <p:pic>
        <p:nvPic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05160C6-530E-49CD-87F7-8FFBFD578CD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89245850e24ac3">
            <a:extLst>
              <a:ext uri="{96DAC541-7B7A-43D3-8B79-37D633B846F1}">
                <asvg:svgBlip xmlns:asvg="http://schemas.microsoft.com/office/drawing/2016/SVG/main" r:embed="R954a1a21e87e439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172450" y="133350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289E48D-7581-43C9-9AF6-B624251D8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314450"/>
            <a:ext cx="29908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음성 입력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48EDBDD-C509-4B4D-89D4-0C1EA6DA5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733550"/>
            <a:ext cx="3390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86818E8-60EC-4183-B069-99B91C943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9812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12ED004-73DC-4909-AB24-67E105AA6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876425"/>
            <a:ext cx="3200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음성 인식 기반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189B0D9-0E0C-415D-8ACC-D616ABF08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2860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7CD93F0-3AEE-4EB0-9774-4A62E5EDA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181225"/>
            <a:ext cx="3200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현장 메모 입력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088E814-9E57-4C4B-8CB4-9D592CCF5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3028950"/>
            <a:ext cx="1619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AD6D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A2C7BCC-9996-48A4-BF3B-F919767CE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3243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rPr>
              <a:t>앱 화면 삽입</a:t>
            </a:r>
          </a:p>
        </p:txBody>
      </p:sp>
    </p:spTree>
    <p:extLst>
      <p:ext uri="{BB962C8B-B14F-4D97-AF65-F5344CB8AC3E}">
        <p14:creationId xmlns:p14="http://schemas.microsoft.com/office/powerpoint/2010/main" val="154453057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4C637B1-B107-4101-9E52-0407BE2DD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303219-4B25-4568-8846-9838D596C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9월 — 그룹 협업 및 업무 관리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2F50FC-0DE2-443E-AD75-3954E007D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8DE2B7-9B15-4A02-9C6C-33E1DBA86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809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rPr>
              <a:t>2학기 개발 성과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31AF6A-9A59-48FF-9D3B-33A38BE33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9602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8A2727-8DB4-4187-93B3-A68EF07AC09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8a353a2e0442d3">
            <a:extLst>
              <a:ext uri="{96DAC541-7B7A-43D3-8B79-37D633B846F1}">
                <asvg:svgBlip xmlns:asvg="http://schemas.microsoft.com/office/drawing/2016/SVG/main" r:embed="R26b3bd8c45c746b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9600" y="133350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681F7D-DCAB-4AE2-89BD-5EC0F46BE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314450"/>
            <a:ext cx="29908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그룹 생성·업무 관리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C80D93-02B1-4EA3-9216-0C615D18B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3390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3B28B8-1A95-4B15-9FFC-9A360D915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7A6560-EFFE-4217-A074-5EDE76589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76425"/>
            <a:ext cx="3200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구성원 초대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7C1FDF-61AB-421A-993E-BD191E2AA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340CCC-47FB-4E73-A052-52C59DF8E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81225"/>
            <a:ext cx="3200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방문지 배정·업무 이관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112F6C-7F5D-4962-8C04-F3D27ACDE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028950"/>
            <a:ext cx="1619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AD6D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249492-F902-41B7-A705-D99444758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43243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rPr>
              <a:t>앱 화면 삽입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F0850F-468C-44B0-9AEE-A50B09D55F0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0ff79d2c3e4f39">
            <a:extLst>
              <a:ext uri="{96DAC541-7B7A-43D3-8B79-37D633B846F1}">
                <asvg:svgBlip xmlns:asvg="http://schemas.microsoft.com/office/drawing/2016/SVG/main" r:embed="R1a847756fe7444c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391025" y="133350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67584B-B015-44E2-850D-A9336D341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1314450"/>
            <a:ext cx="29908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행정동·업무 현황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97FCAF-2444-486F-88CF-8275B2AC6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1733550"/>
            <a:ext cx="3390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2C3A1F-6084-4C3F-9B3C-715C71257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19812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9FA33C-1FCD-453F-BF1C-F9118B1F7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1876425"/>
            <a:ext cx="3200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SGIS 행정동 경계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42E9E9-1538-4791-B581-6557BC26F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22860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6780CA-EA1A-49FD-924F-05692E46E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181225"/>
            <a:ext cx="3200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개인·그룹별 현황 지도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96B258-B11D-4AE4-A43E-2BDB85B92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028950"/>
            <a:ext cx="1619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AD6D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8DC9750-060D-4A60-B3A2-326D84C87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3243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rPr>
              <a:t>앱 화면 삽입</a:t>
            </a:r>
          </a:p>
        </p:txBody>
      </p:sp>
      <p:pic>
        <p:nvPic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C05F19F-A9F7-453D-ACAD-3CA164D2E28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c2514984644a0a">
            <a:extLst>
              <a:ext uri="{96DAC541-7B7A-43D3-8B79-37D633B846F1}">
                <asvg:svgBlip xmlns:asvg="http://schemas.microsoft.com/office/drawing/2016/SVG/main" r:embed="R32913ab6cc2c41b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172450" y="133350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CB94FF2-C08D-449E-9921-05166BD8C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314450"/>
            <a:ext cx="29908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대시보드·데이터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C121A1E-9B22-4226-98F8-C1CDBE184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733550"/>
            <a:ext cx="3390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EAB0ED7-B400-412C-BAB3-06D8695F4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9812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3BDD5C9-70E0-4A01-BEC6-C37BC0BD3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876425"/>
            <a:ext cx="3200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개인·그룹별 업무 현황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C6E6D80-9A13-4F1B-9758-D58FE3B71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2860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B796A61-9CFD-401C-831A-6D75967BF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181225"/>
            <a:ext cx="3200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완료 기록·업무 데이터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7C6D08D-E609-441B-BFB8-30D16574E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3028950"/>
            <a:ext cx="1619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AD6D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76297BC-B8B7-49A7-B775-5B123934C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3243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rPr>
              <a:t>앱 화면 삽입</a:t>
            </a:r>
          </a:p>
        </p:txBody>
      </p:sp>
    </p:spTree>
    <p:extLst>
      <p:ext uri="{BB962C8B-B14F-4D97-AF65-F5344CB8AC3E}">
        <p14:creationId xmlns:p14="http://schemas.microsoft.com/office/powerpoint/2010/main" val="66926559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6B51609-E28B-4829-99FD-6630AEFDF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ED6236-118E-49ED-B423-39D9E09DF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10월 — 경로 안내 및 서비스 개선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2C891B-77B8-443B-8B5F-40932CC4B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263284-65C5-479B-8688-19B63ECA0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809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rPr>
              <a:t>2학기 개발 성과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C74E11-B289-45AE-A711-ECAA81DF1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9602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AB63E3-7A34-46CF-BF13-D3E6C6C780D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d7e50cd7484092">
            <a:extLst>
              <a:ext uri="{96DAC541-7B7A-43D3-8B79-37D633B846F1}">
                <asvg:svgBlip xmlns:asvg="http://schemas.microsoft.com/office/drawing/2016/SVG/main" r:embed="Rd5d07eec44df45a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9600" y="133350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4B10AB-75E6-4450-B67C-80D888908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314450"/>
            <a:ext cx="29908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경로 안내 개선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CAE6BA-3474-4064-A018-9BB49EC3E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3390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237FF2-8C7B-42CE-B2E3-1657E60DE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3304F8-136B-4BCC-9B10-E0575A5AD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76425"/>
            <a:ext cx="3200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Kakao 도보 경로 연동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375B1D-03DD-467E-97F2-68545D208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DD7ABB-EA8C-4FDD-BB5C-F96D7E3FF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81225"/>
            <a:ext cx="3200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출입구 기반 도착 지점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9D0A47-F4E7-4065-8FC4-8327308FE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028950"/>
            <a:ext cx="1619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AD6D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27D6C3-9860-4E22-860F-464D9C65E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43243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rPr>
              <a:t>앱 화면 삽입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694755-1DC3-478F-8B82-1A5242E07E0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8376fea7194069">
            <a:extLst>
              <a:ext uri="{96DAC541-7B7A-43D3-8B79-37D633B846F1}">
                <asvg:svgBlip xmlns:asvg="http://schemas.microsoft.com/office/drawing/2016/SVG/main" r:embed="Rd4788adca1da4d9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391025" y="133350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A88230-FD52-4DBA-89FD-59DE4A992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1314450"/>
            <a:ext cx="29908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공공데이터 연동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47E448-CEAC-4184-9A9C-AF8F1BEA8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1733550"/>
            <a:ext cx="3390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FFC90A-8164-438F-9BF7-5122B7645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19812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1F2B0C-038B-40AF-A9A4-1BA7E023F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1876425"/>
            <a:ext cx="3200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버스 정류장·AED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8710BB-A48A-4571-9230-C90996464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22860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905DA3-D068-4931-B25B-A2E5F883F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181225"/>
            <a:ext cx="3200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부산 건물 출입구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77FCDB-DE02-4953-89A3-7783C0D70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028950"/>
            <a:ext cx="1619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AD6D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65F7F5-3B71-4389-BE2B-6C7C44ECF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3243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rPr>
              <a:t>앱 화면 삽입</a:t>
            </a:r>
          </a:p>
        </p:txBody>
      </p:sp>
      <p:pic>
        <p:nvPic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32C6740-6FE3-48C7-A75E-4D5B10D2CCC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7eb5429c644fa5">
            <a:extLst>
              <a:ext uri="{96DAC541-7B7A-43D3-8B79-37D633B846F1}">
                <asvg:svgBlip xmlns:asvg="http://schemas.microsoft.com/office/drawing/2016/SVG/main" r:embed="Re659f0df0bb6425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172450" y="133350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0456935-FC85-4EE7-83B8-56C8EE449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314450"/>
            <a:ext cx="29908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UI/UX 개선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32079CA-485E-4329-9213-CC557DB8C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733550"/>
            <a:ext cx="3390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50D8A9D-83A3-4634-B039-A88938F73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9812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D807CE3-B5AD-4F27-90C9-E32503805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876425"/>
            <a:ext cx="3200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지도 중심 화면 개편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CC6B785-DCF8-4B77-B4B5-29A43AC5E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2860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647190F-B699-47BF-B7A5-2DC2306F4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181225"/>
            <a:ext cx="3200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등록·현장 작업 흐름 개선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E2FD71B-EDBD-4C0B-BE83-78E20CE21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3028950"/>
            <a:ext cx="1619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AD6D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FCC999C-28E9-4ED6-A396-5F5F307F1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3243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rPr>
              <a:t>앱 화면 삽입</a:t>
            </a:r>
          </a:p>
        </p:txBody>
      </p:sp>
    </p:spTree>
    <p:extLst>
      <p:ext uri="{BB962C8B-B14F-4D97-AF65-F5344CB8AC3E}">
        <p14:creationId xmlns:p14="http://schemas.microsoft.com/office/powerpoint/2010/main" val="119692018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B2EB45-C68C-4D85-BDD7-E451E09E7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50B382-9B88-42D8-B232-E5FA4A56E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사하구청 현장 미팅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EDEA08-A17A-443B-B50C-177644F60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3AEDBE-49C2-4105-A249-CA1A54D77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809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rPr>
              <a:t>2026년 10월 1일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259E9B-1D44-48B2-937E-DB574257A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9602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3522AF-60C1-4A3A-BA28-A8008FA3C3B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7ce6c7da8347de">
            <a:extLst>
              <a:ext uri="{96DAC541-7B7A-43D3-8B79-37D633B846F1}">
                <asvg:svgBlip xmlns:asvg="http://schemas.microsoft.com/office/drawing/2016/SVG/main" r:embed="R27dce223be4b45b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9600" y="1323975"/>
            <a:ext cx="295275" cy="2952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CC9824-4BA5-4FE8-807A-D81BBCC88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247775"/>
            <a:ext cx="10534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현장 담당자의 의견을 들었습니다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A0A429-3B09-4F80-A576-58261C6CD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5219700" cy="3381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AD6D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256908-8D09-41A9-B130-3BFD0630C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09963"/>
            <a:ext cx="499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rPr>
              <a:t>현장 미팅 사진 삽입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5903C4-6C93-4C31-BD9E-0C6DB770A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952625"/>
            <a:ext cx="5219700" cy="3381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AD6D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33D685-DB73-40DB-B6C5-5ED39899F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09963"/>
            <a:ext cx="499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rPr>
              <a:t>현장 미팅 사진 삽입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CD51D3-E704-47B3-9B3E-5FF43B116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48325"/>
            <a:ext cx="10953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rPr>
              <a:t>이 자리에서 확인한 6가지 주요 피드백</a:t>
            </a:r>
          </a:p>
        </p:txBody>
      </p:sp>
    </p:spTree>
    <p:extLst>
      <p:ext uri="{BB962C8B-B14F-4D97-AF65-F5344CB8AC3E}">
        <p14:creationId xmlns:p14="http://schemas.microsoft.com/office/powerpoint/2010/main" val="135465839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A6B6189-A3D3-44F2-BA3D-9721D1785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9FD6F0-9CE7-418B-9A7B-36C57632C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사하구청 현장 미팅 주요 피드백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0B2BDE-FC02-4A99-812A-7D482922B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58F4A0-151A-4155-8E60-02716ADF0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809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rPr>
              <a:t>2026년 10월 1일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5185B9-25E9-41EB-AEE3-451FDA3C8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9602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FAEC22-2D89-49B4-84DE-99F98B4E0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52197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9525">
            <a:solidFill>
              <a:srgbClr val="CAD6D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0D2A5D-CF4A-47A9-BE22-DE6A63882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C36F81-C1D0-4F67-A823-FA2877287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46685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UI/UX 간소화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AEFF8E-C7C8-4566-8E0B-0F22D961879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4d5e680c844014">
            <a:extLst>
              <a:ext uri="{96DAC541-7B7A-43D3-8B79-37D633B846F1}">
                <asvg:svgBlip xmlns:asvg="http://schemas.microsoft.com/office/drawing/2016/SVG/main" r:embed="Ref820fa0ae2f4e3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353050" y="1476375"/>
            <a:ext cx="276225" cy="27622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79CCC7-39C2-4D21-9784-EC45A1543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05000"/>
            <a:ext cx="4857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클릭 감소 · 지도 중심 · 위도·경도 제거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C4C617-47D3-4BF9-85D5-A3F92E8EB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304925"/>
            <a:ext cx="52197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9525">
            <a:solidFill>
              <a:srgbClr val="CAD6D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D0C4B4-34BC-45E8-836B-68839E0C9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4668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E6F67D-5563-4762-BC1B-907075930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146685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위치 등록 정확도</a:t>
            </a:r>
          </a:p>
        </p:txBody>
      </p:sp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00BB76-CC01-4962-B560-39DEEC52DA8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c3e236e3c844c3">
            <a:extLst>
              <a:ext uri="{96DAC541-7B7A-43D3-8B79-37D633B846F1}">
                <asvg:svgBlip xmlns:asvg="http://schemas.microsoft.com/office/drawing/2016/SVG/main" r:embed="Rdcf7bacfc4e8445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829925" y="1476375"/>
            <a:ext cx="276225" cy="276225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58BE4F-7010-4954-A459-57DAD0FB6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1905000"/>
            <a:ext cx="4857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터치 즉시 지정 한계 · 핀 위치 정밀 조정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AB5D1A-B9A9-422D-95DF-83001D648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52197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9525">
            <a:solidFill>
              <a:srgbClr val="CAD6D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1B27BB-DF30-4F22-9B0C-8010FDDA4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4322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FBEA17-8466-4B7A-9623-4AA73FA93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943225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그룹·업무 협업</a:t>
            </a:r>
          </a:p>
        </p:txBody>
      </p:sp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94E880-67DE-4E9E-B8AF-92737FF910F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7d5c1e1df141e3">
            <a:extLst>
              <a:ext uri="{96DAC541-7B7A-43D3-8B79-37D633B846F1}">
                <asvg:svgBlip xmlns:asvg="http://schemas.microsoft.com/office/drawing/2016/SVG/main" r:embed="R4a7cd9c1b6434b1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353050" y="2952750"/>
            <a:ext cx="276225" cy="276225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9A65CF-396D-45AB-9056-B832B90FD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81375"/>
            <a:ext cx="4857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팀장 중심 배정 축소 · 개인 관리</a:t>
            </a:r>
          </a:p>
          <a:p xmlns:a="http://schemas.openxmlformats.org/drawingml/2006/main">
            <a:pPr algn="l">
              <a:defRPr sz="142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지역별 업무 이관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B4B2F3-AD07-4CF1-B502-E67D1FFC5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781300"/>
            <a:ext cx="52197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9525">
            <a:solidFill>
              <a:srgbClr val="CAD6D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A4EF69-1DD4-49B4-A90E-894C8CFFD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94322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0B4487-FCD0-4E27-AC4B-3799D39BA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2943225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일괄 등록·공유</a:t>
            </a:r>
          </a:p>
        </p:txBody>
      </p:sp>
      <p:pic>
        <p:nvPic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A1CA85-E696-48F3-81E2-45F797490E1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ee6d4cb34b4d49">
            <a:extLst>
              <a:ext uri="{96DAC541-7B7A-43D3-8B79-37D633B846F1}">
                <asvg:svgBlip xmlns:asvg="http://schemas.microsoft.com/office/drawing/2016/SVG/main" r:embed="Rda2913c66b8b47b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829925" y="2952750"/>
            <a:ext cx="276225" cy="276225"/>
          </a:xfrm>
          <a:prstGeom xmlns:a="http://schemas.openxmlformats.org/drawingml/2006/main" prst="rect">
            <a:avLst/>
          </a:prstGeom>
        </p:spPr>
      </p:pic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9290F07-16F3-4E65-8EE4-83BDA2D4A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3381375"/>
            <a:ext cx="4857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엑셀 일괄 등록 · 사진 위치정보 활용</a:t>
            </a:r>
          </a:p>
          <a:p xmlns:a="http://schemas.openxmlformats.org/drawingml/2006/main">
            <a:pPr algn="l">
              <a:defRPr sz="142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업무 데이터 가져오기·내보내기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7232374-CEAC-4344-AFF1-7210958B0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57675"/>
            <a:ext cx="52197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9525">
            <a:solidFill>
              <a:srgbClr val="CAD6D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8735E21-61D4-4F2F-97AA-D42C1DB6B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196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8AD0550-92DD-4359-BEA2-FD1968AD7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41960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공공데이터 한계</a:t>
            </a:r>
          </a:p>
        </p:txBody>
      </p:sp>
      <p:pic>
        <p:nvPic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F52AA5B-FBB6-4FC5-97FC-7403B55F660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4adc2903c44d59">
            <a:extLst>
              <a:ext uri="{96DAC541-7B7A-43D3-8B79-37D633B846F1}">
                <asvg:svgBlip xmlns:asvg="http://schemas.microsoft.com/office/drawing/2016/SVG/main" r:embed="R0b739850de744d5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353050" y="4429125"/>
            <a:ext cx="276225" cy="276225"/>
          </a:xfrm>
          <a:prstGeom xmlns:a="http://schemas.openxmlformats.org/drawingml/2006/main" prst="rect">
            <a:avLst/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7046093-54E2-4FEB-8153-112EBA0E4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57750"/>
            <a:ext cx="4857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제설함·아파트 내부 시설물 위치데이터 부족</a:t>
            </a:r>
          </a:p>
          <a:p xmlns:a="http://schemas.openxmlformats.org/drawingml/2006/main">
            <a:pPr algn="l">
              <a:defRPr sz="142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사하구청 정비 후 활용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A7BE09D-90F0-4936-91FD-0E19E5F90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4257675"/>
            <a:ext cx="52197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9525">
            <a:solidFill>
              <a:srgbClr val="CAD6D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B5765B5-AEAA-4C3D-98C2-6758AD977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4196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DCE7F47-A0D9-41AA-85F8-28CB3100C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441960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플랫폼·저장</a:t>
            </a:r>
          </a:p>
        </p:txBody>
      </p:sp>
      <p:pic>
        <p:nvPic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948B113-7199-4278-BAFF-6FFA3730BD7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e04c74a0324778">
            <a:extLst>
              <a:ext uri="{96DAC541-7B7A-43D3-8B79-37D633B846F1}">
                <asvg:svgBlip xmlns:asvg="http://schemas.microsoft.com/office/drawing/2016/SVG/main" r:embed="R2cc1fa8898e742b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829925" y="4429125"/>
            <a:ext cx="276225" cy="276225"/>
          </a:xfrm>
          <a:prstGeom xmlns:a="http://schemas.openxmlformats.org/drawingml/2006/main" prst="rect">
            <a:avLst/>
          </a:prstGeom>
        </p:spPr>
      </p:pic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5C25581-762B-4649-BADD-4193DDF0D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4857750"/>
            <a:ext cx="4857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모바일·웹 · 외부 서버 저장 최소화</a:t>
            </a:r>
          </a:p>
          <a:p xmlns:a="http://schemas.openxmlformats.org/drawingml/2006/main">
            <a:pPr algn="l">
              <a:defRPr sz="142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보고서 로컬 다운로드·저장</a:t>
            </a:r>
          </a:p>
        </p:txBody>
      </p:sp>
    </p:spTree>
    <p:extLst>
      <p:ext uri="{BB962C8B-B14F-4D97-AF65-F5344CB8AC3E}">
        <p14:creationId xmlns:p14="http://schemas.microsoft.com/office/powerpoint/2010/main" val="147057497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2F7327C-C956-486A-898E-5465C4685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C7DD8F-00BD-4143-B146-EA088A2C9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현장 피드백 반영 현황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DDCBCE-4268-47C2-AF1D-E8D41141B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20C527-AA9D-467A-9ACF-89BF4F421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809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rPr>
              <a:t>O 해결 · △ 진행 중 · X 미해결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2DF510-6297-4B99-811B-A690ED299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9602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741915-A5C2-4CF4-A2DE-DB2A2F61A94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fafe88a5194e68">
            <a:extLst>
              <a:ext uri="{96DAC541-7B7A-43D3-8B79-37D633B846F1}">
                <asvg:svgBlip xmlns:asvg="http://schemas.microsoft.com/office/drawing/2016/SVG/main" r:embed="Re9b2b6af35ed4d6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106150" y="485775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C0C2ED-F789-4106-840B-34B21EFA4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53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34E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59828D-AA0A-4E2E-B68F-6BC1037F6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04950"/>
            <a:ext cx="809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현장 피드백 항목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4590AA-4C1F-4A44-B425-FB260989C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504950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상태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9C11C7-D002-4A2B-B104-D365ADD71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10953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9525">
            <a:solidFill>
              <a:srgbClr val="CAD6D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E11FA5-97D1-4584-A214-B3CE6B4C8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43125"/>
            <a:ext cx="828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UI/UX 간소화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5A46F3-CB6A-477E-95AD-F06E4FD23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143125"/>
            <a:ext cx="114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100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rPr>
              <a:t>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2BA7D7-9140-49C7-B7EC-14DD4D541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76525"/>
            <a:ext cx="10953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6D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AEF3D0-CA25-439F-A885-60EB0D37E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71775"/>
            <a:ext cx="828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위치 등록 정확도 개선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0594BB-43E4-4F7F-A1C1-E1EBF2E1F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771775"/>
            <a:ext cx="114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100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rPr>
              <a:t>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5DC014-C944-406C-9FB5-70309ABA3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05175"/>
            <a:ext cx="10953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9525">
            <a:solidFill>
              <a:srgbClr val="CAD6D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43E116-6875-4B51-A5BF-9E733DA48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00425"/>
            <a:ext cx="828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그룹 및 업무 협업 개선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86EDCA-0B38-4EA7-BB19-883065D12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400425"/>
            <a:ext cx="114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100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rPr>
              <a:t>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22E677-5E3F-48B1-B90B-4484011D7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3825"/>
            <a:ext cx="10953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6D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21D0A8-BD24-4E69-95D9-C538FE8FD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29075"/>
            <a:ext cx="828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방문지 일괄 등록 및 공유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2BC7EE-46E0-48CB-80DD-658D8537D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029075"/>
            <a:ext cx="114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100" b="1">
                <a:solidFill>
                  <a:srgbClr val="9A525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9A5252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9A5252"/>
                </a:solidFill>
                <a:latin typeface="Malgun Gothic"/>
                <a:ea typeface="Malgun Gothic"/>
                <a:cs typeface="Malgun Gothic"/>
              </a:rPr>
              <a:t>X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3D9DFC-6970-4D70-9242-B76E935BD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62475"/>
            <a:ext cx="10953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9525">
            <a:solidFill>
              <a:srgbClr val="CAD6D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20CF0C-3B2B-4E4F-93DC-D6AE33DFF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57725"/>
            <a:ext cx="828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공공데이터의 한계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E146F44-0CFD-46EE-BF03-994571273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657725"/>
            <a:ext cx="114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100" b="1">
                <a:solidFill>
                  <a:srgbClr val="9A525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9A5252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9A5252"/>
                </a:solidFill>
                <a:latin typeface="Malgun Gothic"/>
                <a:ea typeface="Malgun Gothic"/>
                <a:cs typeface="Malgun Gothic"/>
              </a:rPr>
              <a:t>X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701FDF3-79C4-4E22-937F-17D46444D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91125"/>
            <a:ext cx="10953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6D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F6919F1-CDE8-4F04-A01C-BA450E8F5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86375"/>
            <a:ext cx="828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플랫폼 및 저장 방식 개선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7C303DD-EDBF-4EEC-AF7B-A9D2557E6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286375"/>
            <a:ext cx="114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100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rPr>
              <a:t>O</a:t>
            </a:r>
          </a:p>
        </p:txBody>
      </p:sp>
    </p:spTree>
    <p:extLst>
      <p:ext uri="{BB962C8B-B14F-4D97-AF65-F5344CB8AC3E}">
        <p14:creationId xmlns:p14="http://schemas.microsoft.com/office/powerpoint/2010/main" val="139690717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22572BD-F6E4-4CBA-89A9-075B2A257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BF7D89-DB9B-4577-8457-FD0EFA2C4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현장 피드백 반영 ① UI/UX 간소화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EA8B18-EDC7-435A-BFB2-82B764049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B00E95-F9A8-4C2D-9EAD-92CCF9463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809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rPr>
              <a:t>사하구청 현장 피드백 반영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7F24EB-D3BC-4445-8382-055E2794F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9602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A9F46E-C17B-4C98-B9DB-675C28640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66825"/>
            <a:ext cx="50958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BEFORE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650B87-4367-44ED-BC51-76900212C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5095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E2E898-DDA4-4D86-A41A-A40400E83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266825"/>
            <a:ext cx="50958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rPr>
              <a:t>AFTER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47424F-CFAF-4D6D-B5FC-73A118F49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714500"/>
            <a:ext cx="5095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62AB19-6E77-4787-A30E-5EC78F25E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5095875" cy="2867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AD6D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24F3B1-621A-420E-8245-38B6745B9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52788"/>
            <a:ext cx="48672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rPr>
              <a:t>영상 삽입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9B9774-1E91-48D5-9119-9464A72D7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952625"/>
            <a:ext cx="5095875" cy="2867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AD6D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E7535D-6966-486B-9692-ADF1103E3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252788"/>
            <a:ext cx="48672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rPr>
              <a:t>영상 삽입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A63E26-064A-49AF-B5D2-675772002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149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2006A5-28E4-4233-9374-C94D84400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10150"/>
            <a:ext cx="4905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복잡한 화면 이동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9C49BD-5D41-44CD-8D85-312CE3BE1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A7437A-163A-459A-A5E1-E9456D125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05425"/>
            <a:ext cx="4905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여러 단계의 업무 등록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49DF06-7B46-46D8-A596-161639504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1149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DD82B4-0205-45F2-B3FC-A5118238E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010150"/>
            <a:ext cx="4905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로그인 후 지도 중심 화면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81E6D2-0055-41B1-B36F-02C9E4B8C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4102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8FABA1-789F-4672-8892-CB9D04BE6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305425"/>
            <a:ext cx="4905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간소화된 업무 처리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B05609-9CAC-4C96-BF23-3106FEAC7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7054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5AB9D33-B48D-4045-9108-A1B095925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600700"/>
            <a:ext cx="4905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위도·경도 정보 제거</a:t>
            </a:r>
          </a:p>
        </p:txBody>
      </p:sp>
      <p:pic>
        <p:nvPic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FC4E93C-A022-4DF7-A781-FC095999A78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598fd47c2344a2">
            <a:extLst>
              <a:ext uri="{96DAC541-7B7A-43D3-8B79-37D633B846F1}">
                <asvg:svgBlip xmlns:asvg="http://schemas.microsoft.com/office/drawing/2016/SVG/main" r:embed="Racbb60bc3280495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106150" y="485775"/>
            <a:ext cx="285750" cy="285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701485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05F235-CBDE-4017-9A7E-F39E81773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726E7B-96D9-4ED8-8656-591E7E5B5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현장 피드백 반영 ② 위치 등록 정확도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51B1BB-AEE9-429C-9FA3-4BC13C08C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8C18A5-F7F9-4A3F-8AE9-6F3B172A5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809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rPr>
              <a:t>사하구청 현장 피드백 반영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C41314-CE7F-4780-8BB0-2B664BD09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9602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C2E0E5-1A1D-44F5-921E-E07FB44F8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66825"/>
            <a:ext cx="50958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BEFORE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F21DB9-30EC-4CBD-B602-EFE18CCCC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5095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791878-E155-4E0E-BFEC-BACCFB940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266825"/>
            <a:ext cx="50958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rPr>
              <a:t>AFTER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1BD218-2FE3-4BE4-B1FA-0A7B35B9B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714500"/>
            <a:ext cx="5095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3F4762-4877-4F70-95E6-06BE3769A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5095875" cy="2867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AD6D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A7D690-FCE8-451A-B886-F6D31644C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52788"/>
            <a:ext cx="48672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rPr>
              <a:t>영상 삽입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19D96B-1630-49BF-8940-8980EE5B2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952625"/>
            <a:ext cx="5095875" cy="2867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AD6D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3636C1-8917-4A79-800F-D9EB79754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252788"/>
            <a:ext cx="48672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rPr>
              <a:t>영상 삽입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CFF8F5-0E6C-449C-A718-CEDCB7FF5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149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D20D78-D595-4EA8-8E88-0F63A47DC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10150"/>
            <a:ext cx="4905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지도 터치 시 위치 즉시 지정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7827AC-CEFB-40CA-ACCC-8A9132512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4D7C59-B8FE-417B-9A4C-70189BCF7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05425"/>
            <a:ext cx="4905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세부 위치 조정이 어려움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EF3675-A123-45E5-B588-16CF1C2F1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1149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A5E0EF-9B1F-40CD-AD01-E8FF028E4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010150"/>
            <a:ext cx="4905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중앙 포인터로 위치 지정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366B5A-288B-4C20-84B4-7CE606207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4102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D7EC71-2E43-4519-BE04-4B3970808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305425"/>
            <a:ext cx="4905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지도를 이동해 정밀하게 조정</a:t>
            </a:r>
          </a:p>
        </p:txBody>
      </p:sp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4358E7-7A6D-4576-BD37-EAB30679BD0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ed0c45d578411b">
            <a:extLst>
              <a:ext uri="{96DAC541-7B7A-43D3-8B79-37D633B846F1}">
                <asvg:svgBlip xmlns:asvg="http://schemas.microsoft.com/office/drawing/2016/SVG/main" r:embed="R2c21e5dcb508434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106150" y="485775"/>
            <a:ext cx="285750" cy="285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04305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3384877-BCA4-45FA-8AFD-320F9DEEB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794E0C-DCB3-48E8-ABBA-B94867352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현장 피드백 반영 ③ 그룹 협업 개선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29E7A9-16AB-4B51-830F-A01591EA0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57C150-511C-4CAA-9783-6CF3C6EF5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809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rPr>
              <a:t>사하구청 현장 피드백 반영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63D571-AD72-4663-ABDB-A11C5A5DB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9602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EE3FCF-5A3B-42BE-823F-1A0DEC796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66825"/>
            <a:ext cx="50958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BEFORE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4DE397-477F-4546-9100-C57832DDE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5095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F058DC-43A0-4EE7-936D-21DF54147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266825"/>
            <a:ext cx="50958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rPr>
              <a:t>AFTER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8FFDB5-8D15-429C-8059-48C332814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714500"/>
            <a:ext cx="5095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5944A2-D0E9-4281-9A3B-22BEC81DF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5095875" cy="2867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AD6D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ED8921-B5D4-4EC6-BF1F-A201464FC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52788"/>
            <a:ext cx="48672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rPr>
              <a:t>영상 삽입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392759-FBBB-4065-9AFB-A6FFDE9E8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952625"/>
            <a:ext cx="5095875" cy="2867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AD6D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E47C0D-811A-4CB4-8EAB-20AD41F5C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252788"/>
            <a:ext cx="48672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rPr>
              <a:t>영상 삽입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C4C752-C307-4643-8C09-F98B31600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149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B67C79-F943-4988-B9FF-157C53462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10150"/>
            <a:ext cx="4905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팀장 중심 방문지 배정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306ACC-B434-4337-A095-8FC5C6B2D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EDBF59-9A4D-40A6-BDCD-D3641793D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05425"/>
            <a:ext cx="4905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팀장이 구성원에게 개별 배정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3AC202-E84D-4BCC-9496-C8216FAA4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1149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6B4E1E-80B0-4138-AF57-4D87FD8E7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010150"/>
            <a:ext cx="4905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개인 중심 업무 관리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BD9A7C-CE2E-4F36-80F1-29EAD83A2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4102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5F90F5-38A1-4E32-AE36-40B1A4ABC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305425"/>
            <a:ext cx="4905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필요한 업무를 구성원에게 이관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D14B45-F09D-4D0C-AB67-E78B0AC72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7054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FC628B-61B4-4107-B966-A28484E34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600700"/>
            <a:ext cx="4905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행정동 단위 업무 관리</a:t>
            </a:r>
          </a:p>
        </p:txBody>
      </p:sp>
      <p:pic>
        <p:nvPic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0EC766-857A-4CC4-9D2C-1E6757E0886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f25cda77334403">
            <a:extLst>
              <a:ext uri="{96DAC541-7B7A-43D3-8B79-37D633B846F1}">
                <asvg:svgBlip xmlns:asvg="http://schemas.microsoft.com/office/drawing/2016/SVG/main" r:embed="R9a21d3ee01f7454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106150" y="485775"/>
            <a:ext cx="285750" cy="285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66751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8962D1-FE57-4836-96BD-2FBEF5982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6CE6CC-558E-4642-A6C7-33CB1FB08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현장 피드백 반영 ④ 플랫폼 및 저장 방식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F29ABC-D31B-48FF-BA33-ABB135EEA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518E6B-F777-4E75-85A0-4B3FD4354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809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rPr>
              <a:t>모바일 화면과 웹 화면 비교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746CF3-9827-4275-9C94-FAC567F8C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9602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rPr>
              <a:t>13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244252-1056-4931-BDBE-6F0B6B76CE0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a112d9fab640e6">
            <a:extLst>
              <a:ext uri="{96DAC541-7B7A-43D3-8B79-37D633B846F1}">
                <asvg:svgBlip xmlns:asvg="http://schemas.microsoft.com/office/drawing/2016/SVG/main" r:embed="Rcaefe006748a437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106150" y="485775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FBE821-D104-4C36-9B19-17943CAF3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5095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BEFORE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5FCAA3-499D-40E2-8379-7C77FA387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238250"/>
            <a:ext cx="5095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rPr>
              <a:t>AFTER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39D267-010A-42E5-A64C-A2523A727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1790700"/>
            <a:ext cx="2381250" cy="3505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AD6D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74843C-CC00-4A5A-B33B-FDE6CDA9F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409950"/>
            <a:ext cx="2152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rPr>
              <a:t>모바일 앱 사진 삽입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98AA7F-7968-4297-808F-AD12EC653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790700"/>
            <a:ext cx="5095875" cy="2876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AD6D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8C13EB-72C5-4239-A094-737858547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095625"/>
            <a:ext cx="48672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rPr>
              <a:t>웹 실행 화면 삽입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10A2E7-1A9E-4AA8-A9BC-F1D058300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14975"/>
            <a:ext cx="5095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모바일 중심 서비스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44091C-2D8E-410F-A671-A79685DB7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953000"/>
            <a:ext cx="5095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웹 환경으로 서비스 확장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096FE6-A386-4B28-9994-2B8678C91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286375"/>
            <a:ext cx="5095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보고서 로컬 다운로드·저장 방식 개선</a:t>
            </a:r>
          </a:p>
        </p:txBody>
      </p:sp>
    </p:spTree>
    <p:extLst>
      <p:ext uri="{BB962C8B-B14F-4D97-AF65-F5344CB8AC3E}">
        <p14:creationId xmlns:p14="http://schemas.microsoft.com/office/powerpoint/2010/main" val="106201062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29FAEB1-3299-4A79-824A-060CDFE7C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4B1B86-40C2-454E-BC44-CBA04F6A7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기말발표까지의 개발 및 검증 계획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766DBD-6B9E-44AE-A519-747629C5E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D3D98F-8BB1-4AF8-8A01-0A9351B37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809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rPr>
              <a:t>다음 단계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D19291-30B4-4EA9-8C28-2F11EE838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9602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0BC3D8-D44B-4F83-A207-0E7530E2E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537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9525">
            <a:solidFill>
              <a:srgbClr val="CAD6D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6D70D0-3301-48B0-B73E-6039A1BB0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24000"/>
            <a:ext cx="66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D2C8C9-253A-4319-8AE9-97A86C193C7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b6126839c3417f">
            <a:extLst>
              <a:ext uri="{96DAC541-7B7A-43D3-8B79-37D633B846F1}">
                <asvg:svgBlip xmlns:asvg="http://schemas.microsoft.com/office/drawing/2016/SVG/main" r:embed="Ra2edf19985844d0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581150" y="1600200"/>
            <a:ext cx="295275" cy="29527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C3BDC4-AD00-4740-8C62-208B65961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1495425"/>
            <a:ext cx="3524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미완료 피드백 반영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76C2F1-B7A4-4E67-857F-78357E63F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1866900"/>
            <a:ext cx="9201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일괄 등록·공유 · 공공시설물 데이터 · 알림 기능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05B7B9-5023-4B5B-8AC6-343611A70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24125"/>
            <a:ext cx="109537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6D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A9278C-D175-4F58-970C-B7D349F13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14625"/>
            <a:ext cx="66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9EC64B-0CC4-418F-8A61-1CCD8FBAF7E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54b9aba1024bb4">
            <a:extLst>
              <a:ext uri="{96DAC541-7B7A-43D3-8B79-37D633B846F1}">
                <asvg:svgBlip xmlns:asvg="http://schemas.microsoft.com/office/drawing/2016/SVG/main" r:embed="R85657314c5ed4f8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581150" y="2790825"/>
            <a:ext cx="295275" cy="295275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BD7D66-4DDB-41B0-B982-1BD8EC6D7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686050"/>
            <a:ext cx="3524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실제 현장 업무 시뮬레이션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EBA71D-EF0C-413F-9E1F-F1A37943C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057525"/>
            <a:ext cx="9201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방문지 등록 · 경로 최적화 · 방문·처리 · 보고서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3206D6-BA76-4CC5-B992-16B75CBB4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109537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9525">
            <a:solidFill>
              <a:srgbClr val="CAD6D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00BF3B-2528-4321-AFC7-A706435FF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05250"/>
            <a:ext cx="66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523780-04E5-4489-B260-A1DF91F3F2C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34a83a8968431a">
            <a:extLst>
              <a:ext uri="{96DAC541-7B7A-43D3-8B79-37D633B846F1}">
                <asvg:svgBlip xmlns:asvg="http://schemas.microsoft.com/office/drawing/2016/SVG/main" r:embed="R0288ea40879b460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581150" y="3981450"/>
            <a:ext cx="295275" cy="295275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9331A5-A889-439D-945B-F2EA4B7EF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876675"/>
            <a:ext cx="3524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최종 피드백 반영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DE0092-B224-4ACD-8D01-7AA13466B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248150"/>
            <a:ext cx="9201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결과 점검 · 현장 담당자 피드백 · 오류·사용성 개선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83DFAE-46E3-4824-AC75-CE047224B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05375"/>
            <a:ext cx="109537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6D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A3753B-CBC6-4E32-B8B6-DC24BF774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95875"/>
            <a:ext cx="66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pic>
        <p:nvPic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B4B313B-087B-4DD8-A654-1F64403DF39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b7f3cbe7b24266">
            <a:extLst>
              <a:ext uri="{96DAC541-7B7A-43D3-8B79-37D633B846F1}">
                <asvg:svgBlip xmlns:asvg="http://schemas.microsoft.com/office/drawing/2016/SVG/main" r:embed="R8fb088bf945143f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581150" y="5172075"/>
            <a:ext cx="295275" cy="295275"/>
          </a:xfrm>
          <a:prstGeom xmlns:a="http://schemas.openxmlformats.org/drawingml/2006/main" prst="rect">
            <a:avLst/>
          </a:prstGeom>
        </p:spPr>
      </p:pic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0CFDFD-E046-4B27-9662-8CEFFCA43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067300"/>
            <a:ext cx="3524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앱 출시 준비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2FC6AE4-F434-425A-BE29-5FB388A92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438775"/>
            <a:ext cx="9201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안정화 · 최종 테스트 · 배포 환경 점검</a:t>
            </a:r>
          </a:p>
        </p:txBody>
      </p:sp>
    </p:spTree>
    <p:extLst>
      <p:ext uri="{BB962C8B-B14F-4D97-AF65-F5344CB8AC3E}">
        <p14:creationId xmlns:p14="http://schemas.microsoft.com/office/powerpoint/2010/main" val="40728690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BDE1C7-A554-4327-B872-3FD48A8BF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8E3B58-E711-4AE0-9AB3-7D5BD3F4B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PANG3 실제 앱 시연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318179-89AE-44CD-924D-D8FE1A7E3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6ABD2F-DC01-49D7-9660-BAD9A155E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809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rPr>
              <a:t>시연 시간 1분 30초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E63A16-866E-43EF-B971-67109631B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9602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rPr>
              <a:t>15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56ADB7-0273-4209-A37B-8E8EE033D43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ec7ef631e14c61">
            <a:extLst>
              <a:ext uri="{96DAC541-7B7A-43D3-8B79-37D633B846F1}">
                <asvg:svgBlip xmlns:asvg="http://schemas.microsoft.com/office/drawing/2016/SVG/main" r:embed="R42f4fc55b9e24ba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106150" y="485775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A7BA96-1D28-4820-A991-778950DB6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304925"/>
            <a:ext cx="8191500" cy="461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AD6D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A7F385-DFC7-4FA5-A7CE-0CCDD829B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476625"/>
            <a:ext cx="796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rPr>
              <a:t>시연 영상 또는 화면 삽입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C52744-AC2F-4AC0-A3CC-EBF452BAF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0"/>
            <a:ext cx="1095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7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방문지 등록   →   경로 최적화   →   현장 업무 처리   →   보고서 확인   →   그룹 업무 관리</a:t>
            </a:r>
          </a:p>
        </p:txBody>
      </p:sp>
    </p:spTree>
    <p:extLst>
      <p:ext uri="{BB962C8B-B14F-4D97-AF65-F5344CB8AC3E}">
        <p14:creationId xmlns:p14="http://schemas.microsoft.com/office/powerpoint/2010/main" val="10919131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2026-10-08T14:19:58.0500000Z</dcterms:created>
  <dcterms:modified xsi:type="dcterms:W3CDTF">2026-10-08T14:19:58.0500000Z</dcterms:modified>
</coreProperties>
</file>